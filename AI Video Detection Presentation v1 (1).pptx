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Inter"/>
      <p:regular r:id="rId23"/>
      <p:bold r:id="rId24"/>
      <p:italic r:id="rId25"/>
      <p:boldItalic r:id="rId26"/>
    </p:embeddedFont>
    <p:embeddedFont>
      <p:font typeface="Poppins"/>
      <p:regular r:id="rId27"/>
      <p:bold r:id="rId28"/>
      <p:italic r:id="rId29"/>
      <p:boldItalic r:id="rId30"/>
    </p:embeddedFont>
    <p:embeddedFont>
      <p:font typeface="Poppins SemiBold"/>
      <p:regular r:id="rId31"/>
      <p:bold r:id="rId32"/>
      <p:italic r:id="rId33"/>
      <p:boldItalic r:id="rId34"/>
    </p:embeddedFont>
    <p:embeddedFont>
      <p:font typeface="Inter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9A1329-7BCA-45B0-9E42-DC8C53F6AC08}">
  <a:tblStyle styleId="{7E9A1329-7BCA-45B0-9E42-DC8C53F6AC0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ter-bold.fntdata"/><Relationship Id="rId23"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Italic.fntdata"/><Relationship Id="rId25" Type="http://schemas.openxmlformats.org/officeDocument/2006/relationships/font" Target="fonts/Inter-italic.fntdata"/><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SemiBold-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PoppinsSemiBold-italic.fntdata"/><Relationship Id="rId10" Type="http://schemas.openxmlformats.org/officeDocument/2006/relationships/slide" Target="slides/slide4.xml"/><Relationship Id="rId32" Type="http://schemas.openxmlformats.org/officeDocument/2006/relationships/font" Target="fonts/PoppinsSemiBold-bold.fntdata"/><Relationship Id="rId13" Type="http://schemas.openxmlformats.org/officeDocument/2006/relationships/slide" Target="slides/slide7.xml"/><Relationship Id="rId35" Type="http://schemas.openxmlformats.org/officeDocument/2006/relationships/font" Target="fonts/InterMedium-regular.fntdata"/><Relationship Id="rId12" Type="http://schemas.openxmlformats.org/officeDocument/2006/relationships/slide" Target="slides/slide6.xml"/><Relationship Id="rId34" Type="http://schemas.openxmlformats.org/officeDocument/2006/relationships/font" Target="fonts/PoppinsSemiBold-boldItalic.fntdata"/><Relationship Id="rId15" Type="http://schemas.openxmlformats.org/officeDocument/2006/relationships/slide" Target="slides/slide9.xml"/><Relationship Id="rId37" Type="http://schemas.openxmlformats.org/officeDocument/2006/relationships/font" Target="fonts/InterMedium-italic.fntdata"/><Relationship Id="rId14" Type="http://schemas.openxmlformats.org/officeDocument/2006/relationships/slide" Target="slides/slide8.xml"/><Relationship Id="rId36" Type="http://schemas.openxmlformats.org/officeDocument/2006/relationships/font" Target="fonts/InterMedium-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InterMedium-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7e4915c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f7e4915c0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7e4915c0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f7e4915c0d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9.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txBox="1"/>
          <p:nvPr/>
        </p:nvSpPr>
        <p:spPr>
          <a:xfrm>
            <a:off x="1095375" y="1414611"/>
            <a:ext cx="10001400" cy="2867100"/>
          </a:xfrm>
          <a:prstGeom prst="rect">
            <a:avLst/>
          </a:prstGeom>
          <a:noFill/>
          <a:ln>
            <a:noFill/>
          </a:ln>
        </p:spPr>
        <p:txBody>
          <a:bodyPr anchorCtr="0" anchor="t" bIns="0" lIns="0" spcFirstLastPara="1" rIns="0" wrap="square" tIns="0">
            <a:spAutoFit/>
          </a:bodyPr>
          <a:lstStyle/>
          <a:p>
            <a:pPr indent="0" lvl="0" marL="0" marR="0" rtl="0" algn="ctr">
              <a:lnSpc>
                <a:spcPct val="119975"/>
              </a:lnSpc>
              <a:spcBef>
                <a:spcPts val="0"/>
              </a:spcBef>
              <a:spcAft>
                <a:spcPts val="0"/>
              </a:spcAft>
              <a:buNone/>
            </a:pPr>
            <a:r>
              <a:rPr lang="en-US" sz="4050">
                <a:solidFill>
                  <a:srgbClr val="1E3A8A"/>
                </a:solidFill>
                <a:latin typeface="Poppins SemiBold"/>
                <a:ea typeface="Poppins SemiBold"/>
                <a:cs typeface="Poppins SemiBold"/>
                <a:sym typeface="Poppins SemiBold"/>
              </a:rPr>
              <a:t>A Comparative Study of Spatial, Frequency, and Hybrid Feature Learning for AI Generated Video Detection </a:t>
            </a:r>
            <a:endParaRPr/>
          </a:p>
        </p:txBody>
      </p:sp>
      <p:sp>
        <p:nvSpPr>
          <p:cNvPr id="86" name="Google Shape;86;p13"/>
          <p:cNvSpPr/>
          <p:nvPr/>
        </p:nvSpPr>
        <p:spPr>
          <a:xfrm>
            <a:off x="5524500" y="4299008"/>
            <a:ext cx="1143000" cy="38100"/>
          </a:xfrm>
          <a:prstGeom prst="rect">
            <a:avLst/>
          </a:prstGeom>
          <a:solidFill>
            <a:srgbClr val="F59E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1333500" y="4492972"/>
            <a:ext cx="952500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64748B"/>
                </a:solidFill>
                <a:latin typeface="Inter Medium"/>
                <a:ea typeface="Inter Medium"/>
                <a:cs typeface="Inter Medium"/>
                <a:sym typeface="Inter Medium"/>
              </a:rPr>
              <a:t>By: G. Karthik Yadav, K. Pujyank, M. Sriharshith</a:t>
            </a:r>
            <a:endParaRPr/>
          </a:p>
        </p:txBody>
      </p:sp>
      <p:sp>
        <p:nvSpPr>
          <p:cNvPr id="88" name="Google Shape;88;p13"/>
          <p:cNvSpPr txBox="1"/>
          <p:nvPr/>
        </p:nvSpPr>
        <p:spPr>
          <a:xfrm>
            <a:off x="1333500" y="4971008"/>
            <a:ext cx="9525000" cy="5485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350" u="none" cap="none" strike="noStrike">
                <a:solidFill>
                  <a:srgbClr val="64748B"/>
                </a:solidFill>
                <a:latin typeface="Inter Medium"/>
                <a:ea typeface="Inter Medium"/>
                <a:cs typeface="Inter Medium"/>
                <a:sym typeface="Inter Medium"/>
              </a:rPr>
              <a:t>Under the supervision of: Dr. V. B. Narsimha</a:t>
            </a:r>
            <a:br>
              <a:rPr b="0" i="0" lang="en-US" sz="1800" u="none" cap="none" strike="noStrike">
                <a:solidFill>
                  <a:schemeClr val="dk1"/>
                </a:solidFill>
                <a:latin typeface="Calibri"/>
                <a:ea typeface="Calibri"/>
                <a:cs typeface="Calibri"/>
                <a:sym typeface="Calibri"/>
              </a:rPr>
            </a:br>
            <a:r>
              <a:rPr b="0" i="0" lang="en-US" sz="1350" u="none" cap="none" strike="noStrike">
                <a:solidFill>
                  <a:srgbClr val="64748B"/>
                </a:solidFill>
                <a:latin typeface="Inter Medium"/>
                <a:ea typeface="Inter Medium"/>
                <a:cs typeface="Inter Medium"/>
                <a:sym typeface="Inter Medium"/>
              </a:rPr>
              <a:t> Department of CSE, Osmania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14"/>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4"/>
          <p:cNvSpPr txBox="1"/>
          <p:nvPr/>
        </p:nvSpPr>
        <p:spPr>
          <a:xfrm>
            <a:off x="571500" y="55245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000">
                <a:solidFill>
                  <a:srgbClr val="1E3A8A"/>
                </a:solidFill>
                <a:latin typeface="Poppins SemiBold"/>
                <a:ea typeface="Poppins SemiBold"/>
                <a:cs typeface="Poppins SemiBold"/>
                <a:sym typeface="Poppins SemiBold"/>
              </a:rPr>
              <a:t>The Problem Statement</a:t>
            </a:r>
            <a:endParaRPr sz="3000">
              <a:solidFill>
                <a:srgbClr val="1E3A8A"/>
              </a:solidFill>
              <a:latin typeface="Poppins SemiBold"/>
              <a:ea typeface="Poppins SemiBold"/>
              <a:cs typeface="Poppins SemiBold"/>
              <a:sym typeface="Poppins SemiBold"/>
            </a:endParaRPr>
          </a:p>
        </p:txBody>
      </p:sp>
      <p:sp>
        <p:nvSpPr>
          <p:cNvPr id="95" name="Google Shape;95;p14"/>
          <p:cNvSpPr txBox="1"/>
          <p:nvPr/>
        </p:nvSpPr>
        <p:spPr>
          <a:xfrm>
            <a:off x="809625" y="1628775"/>
            <a:ext cx="50484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96" name="Google Shape;96;p14"/>
          <p:cNvSpPr txBox="1"/>
          <p:nvPr/>
        </p:nvSpPr>
        <p:spPr>
          <a:xfrm>
            <a:off x="988825" y="1853588"/>
            <a:ext cx="5048400" cy="3555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The rapid development of artificial intelligence like </a:t>
            </a:r>
            <a:r>
              <a:rPr lang="en-US" sz="1500">
                <a:solidFill>
                  <a:srgbClr val="334155"/>
                </a:solidFill>
                <a:latin typeface="Inter"/>
                <a:ea typeface="Inter"/>
                <a:cs typeface="Inter"/>
                <a:sym typeface="Inter"/>
              </a:rPr>
              <a:t>rise of deepfakes and Generative Adversarial Networks (GANs)</a:t>
            </a:r>
            <a:r>
              <a:rPr lang="en-US" sz="1500">
                <a:solidFill>
                  <a:srgbClr val="334155"/>
                </a:solidFill>
                <a:latin typeface="Inter"/>
                <a:ea typeface="Inter"/>
                <a:cs typeface="Inter"/>
                <a:sym typeface="Inter"/>
              </a:rPr>
              <a:t> has enabled the creation of highly realistic synthetic videos, making it increasingly difficult to distinguish AI generated content from authentic videos. Technologies such as deepfakes and generative models can replicate facial expressions, movements, and visual details with remarkable accuracy, creating serious concerns related to cyber security </a:t>
            </a:r>
            <a:r>
              <a:rPr lang="en-US" sz="1500">
                <a:solidFill>
                  <a:srgbClr val="334155"/>
                </a:solidFill>
                <a:latin typeface="Inter"/>
                <a:ea typeface="Inter"/>
                <a:cs typeface="Inter"/>
                <a:sym typeface="Inter"/>
              </a:rPr>
              <a:t>threats</a:t>
            </a:r>
            <a:r>
              <a:rPr lang="en-US" sz="1500">
                <a:solidFill>
                  <a:srgbClr val="334155"/>
                </a:solidFill>
                <a:latin typeface="Inter"/>
                <a:ea typeface="Inter"/>
                <a:cs typeface="Inter"/>
                <a:sym typeface="Inter"/>
              </a:rPr>
              <a:t> and  misinformation</a:t>
            </a:r>
            <a:endParaRPr/>
          </a:p>
        </p:txBody>
      </p:sp>
      <p:sp>
        <p:nvSpPr>
          <p:cNvPr id="97" name="Google Shape;97;p14"/>
          <p:cNvSpPr txBox="1"/>
          <p:nvPr/>
        </p:nvSpPr>
        <p:spPr>
          <a:xfrm>
            <a:off x="809625" y="3743325"/>
            <a:ext cx="50484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98" name="Google Shape;98;p14"/>
          <p:cNvSpPr txBox="1"/>
          <p:nvPr/>
        </p:nvSpPr>
        <p:spPr>
          <a:xfrm>
            <a:off x="809625" y="4800600"/>
            <a:ext cx="50484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99" name="Google Shape;99;p14"/>
          <p:cNvSpPr txBox="1"/>
          <p:nvPr/>
        </p:nvSpPr>
        <p:spPr>
          <a:xfrm>
            <a:off x="744575" y="1853600"/>
            <a:ext cx="334800" cy="1923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250" u="none" cap="none" strike="noStrike">
                <a:solidFill>
                  <a:srgbClr val="F59E0B"/>
                </a:solidFill>
                <a:latin typeface="Inter"/>
                <a:ea typeface="Inter"/>
                <a:cs typeface="Inter"/>
                <a:sym typeface="Inter"/>
              </a:rPr>
              <a:t>■</a:t>
            </a:r>
            <a:endParaRPr sz="1250"/>
          </a:p>
        </p:txBody>
      </p:sp>
      <p:sp>
        <p:nvSpPr>
          <p:cNvPr id="100" name="Google Shape;100;p14"/>
          <p:cNvSpPr txBox="1"/>
          <p:nvPr/>
        </p:nvSpPr>
        <p:spPr>
          <a:xfrm>
            <a:off x="571500" y="4857750"/>
            <a:ext cx="76200" cy="2154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t/>
            </a:r>
            <a:endParaRPr/>
          </a:p>
        </p:txBody>
      </p:sp>
      <p:pic>
        <p:nvPicPr>
          <p:cNvPr id="101" name="Google Shape;101;p14" title="Screenshot 2026-07-09 182516.png"/>
          <p:cNvPicPr preferRelativeResize="0"/>
          <p:nvPr/>
        </p:nvPicPr>
        <p:blipFill>
          <a:blip r:embed="rId3">
            <a:alphaModFix/>
          </a:blip>
          <a:stretch>
            <a:fillRect/>
          </a:stretch>
        </p:blipFill>
        <p:spPr>
          <a:xfrm>
            <a:off x="7299734" y="1395400"/>
            <a:ext cx="3178142" cy="4471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pic>
        <p:nvPicPr>
          <p:cNvPr descr="image.png" id="106" name="Google Shape;106;p15"/>
          <p:cNvPicPr preferRelativeResize="0"/>
          <p:nvPr/>
        </p:nvPicPr>
        <p:blipFill rotWithShape="1">
          <a:blip r:embed="rId3">
            <a:alphaModFix/>
          </a:blip>
          <a:srcRect b="0" l="0" r="0" t="0"/>
          <a:stretch/>
        </p:blipFill>
        <p:spPr>
          <a:xfrm>
            <a:off x="571500" y="2070387"/>
            <a:ext cx="3492549" cy="4171950"/>
          </a:xfrm>
          <a:prstGeom prst="rect">
            <a:avLst/>
          </a:prstGeom>
          <a:noFill/>
          <a:ln>
            <a:noFill/>
          </a:ln>
        </p:spPr>
      </p:pic>
      <p:pic>
        <p:nvPicPr>
          <p:cNvPr descr="image.png" id="107" name="Google Shape;107;p15"/>
          <p:cNvPicPr preferRelativeResize="0"/>
          <p:nvPr/>
        </p:nvPicPr>
        <p:blipFill rotWithShape="1">
          <a:blip r:embed="rId4">
            <a:alphaModFix/>
          </a:blip>
          <a:srcRect b="0" l="0" r="0" t="0"/>
          <a:stretch/>
        </p:blipFill>
        <p:spPr>
          <a:xfrm>
            <a:off x="4349799" y="2070387"/>
            <a:ext cx="3492549" cy="4171950"/>
          </a:xfrm>
          <a:prstGeom prst="rect">
            <a:avLst/>
          </a:prstGeom>
          <a:noFill/>
          <a:ln>
            <a:noFill/>
          </a:ln>
        </p:spPr>
      </p:pic>
      <p:pic>
        <p:nvPicPr>
          <p:cNvPr descr="image.png" id="108" name="Google Shape;108;p15"/>
          <p:cNvPicPr preferRelativeResize="0"/>
          <p:nvPr/>
        </p:nvPicPr>
        <p:blipFill rotWithShape="1">
          <a:blip r:embed="rId5">
            <a:alphaModFix/>
          </a:blip>
          <a:srcRect b="0" l="0" r="0" t="0"/>
          <a:stretch/>
        </p:blipFill>
        <p:spPr>
          <a:xfrm>
            <a:off x="8144243" y="2070387"/>
            <a:ext cx="3492549" cy="4171950"/>
          </a:xfrm>
          <a:prstGeom prst="rect">
            <a:avLst/>
          </a:prstGeom>
          <a:noFill/>
          <a:ln>
            <a:noFill/>
          </a:ln>
        </p:spPr>
      </p:pic>
      <p:sp>
        <p:nvSpPr>
          <p:cNvPr id="109" name="Google Shape;109;p15"/>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5"/>
          <p:cNvSpPr txBox="1"/>
          <p:nvPr/>
        </p:nvSpPr>
        <p:spPr>
          <a:xfrm>
            <a:off x="571500" y="55245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The Problem Statement</a:t>
            </a:r>
            <a:endParaRPr/>
          </a:p>
        </p:txBody>
      </p:sp>
      <p:sp>
        <p:nvSpPr>
          <p:cNvPr id="111" name="Google Shape;111;p15"/>
          <p:cNvSpPr txBox="1"/>
          <p:nvPr/>
        </p:nvSpPr>
        <p:spPr>
          <a:xfrm>
            <a:off x="914406" y="1565937"/>
            <a:ext cx="29472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2100">
                <a:solidFill>
                  <a:srgbClr val="1E40AF"/>
                </a:solidFill>
                <a:latin typeface="Poppins SemiBold"/>
                <a:ea typeface="Poppins SemiBold"/>
                <a:cs typeface="Poppins SemiBold"/>
                <a:sym typeface="Poppins SemiBold"/>
              </a:rPr>
              <a:t>Identity Misuse</a:t>
            </a:r>
            <a:endParaRPr/>
          </a:p>
        </p:txBody>
      </p:sp>
      <p:sp>
        <p:nvSpPr>
          <p:cNvPr id="112" name="Google Shape;112;p15"/>
          <p:cNvSpPr txBox="1"/>
          <p:nvPr/>
        </p:nvSpPr>
        <p:spPr>
          <a:xfrm>
            <a:off x="898060" y="2177472"/>
            <a:ext cx="2806800" cy="3925200"/>
          </a:xfrm>
          <a:prstGeom prst="rect">
            <a:avLst/>
          </a:prstGeom>
          <a:noFill/>
          <a:ln>
            <a:noFill/>
          </a:ln>
        </p:spPr>
        <p:txBody>
          <a:bodyPr anchorCtr="0" anchor="t" bIns="0" lIns="0" spcFirstLastPara="1" rIns="0" wrap="square" tIns="0">
            <a:spAutoFit/>
          </a:bodyPr>
          <a:lstStyle/>
          <a:p>
            <a:pPr indent="0" lvl="0" marL="0" rtl="0" algn="ctr">
              <a:lnSpc>
                <a:spcPct val="160000"/>
              </a:lnSpc>
              <a:spcBef>
                <a:spcPts val="0"/>
              </a:spcBef>
              <a:spcAft>
                <a:spcPts val="0"/>
              </a:spcAft>
              <a:buClr>
                <a:schemeClr val="dk1"/>
              </a:buClr>
              <a:buSzPts val="1100"/>
              <a:buFont typeface="Arial"/>
              <a:buNone/>
            </a:pPr>
            <a:r>
              <a:rPr lang="en-US" sz="1500">
                <a:solidFill>
                  <a:srgbClr val="334155"/>
                </a:solidFill>
                <a:latin typeface="Inter"/>
                <a:ea typeface="Inter"/>
                <a:cs typeface="Inter"/>
                <a:sym typeface="Inter"/>
              </a:rPr>
              <a:t>Al allows for the creation of explicit content and the execution of digital fraud with</a:t>
            </a:r>
            <a:endParaRPr sz="1500">
              <a:solidFill>
                <a:srgbClr val="334155"/>
              </a:solidFill>
              <a:latin typeface="Inter"/>
              <a:ea typeface="Inter"/>
              <a:cs typeface="Inter"/>
              <a:sym typeface="Inter"/>
            </a:endParaRPr>
          </a:p>
          <a:p>
            <a:pPr indent="0" lvl="0" marL="0" rtl="0" algn="ctr">
              <a:lnSpc>
                <a:spcPct val="160000"/>
              </a:lnSpc>
              <a:spcBef>
                <a:spcPts val="0"/>
              </a:spcBef>
              <a:spcAft>
                <a:spcPts val="0"/>
              </a:spcAft>
              <a:buClr>
                <a:schemeClr val="dk1"/>
              </a:buClr>
              <a:buSzPts val="1100"/>
              <a:buFont typeface="Arial"/>
              <a:buNone/>
            </a:pPr>
            <a:r>
              <a:rPr lang="en-US" sz="1500">
                <a:solidFill>
                  <a:srgbClr val="334155"/>
                </a:solidFill>
                <a:latin typeface="Inter"/>
                <a:ea typeface="Inter"/>
                <a:cs typeface="Inter"/>
                <a:sym typeface="Inter"/>
              </a:rPr>
              <a:t>pixel-perfect accuracy, using the likeness of real individuals without their consent. This poses severe</a:t>
            </a:r>
            <a:endParaRPr sz="1500">
              <a:solidFill>
                <a:srgbClr val="334155"/>
              </a:solidFill>
              <a:latin typeface="Inter"/>
              <a:ea typeface="Inter"/>
              <a:cs typeface="Inter"/>
              <a:sym typeface="Inter"/>
            </a:endParaRPr>
          </a:p>
          <a:p>
            <a:pPr indent="0" lvl="0" marL="0" rtl="0" algn="ctr">
              <a:lnSpc>
                <a:spcPct val="160000"/>
              </a:lnSpc>
              <a:spcBef>
                <a:spcPts val="0"/>
              </a:spcBef>
              <a:spcAft>
                <a:spcPts val="0"/>
              </a:spcAft>
              <a:buClr>
                <a:schemeClr val="dk1"/>
              </a:buClr>
              <a:buSzPts val="1100"/>
              <a:buFont typeface="Arial"/>
              <a:buNone/>
            </a:pPr>
            <a:r>
              <a:rPr lang="en-US" sz="1500">
                <a:solidFill>
                  <a:srgbClr val="334155"/>
                </a:solidFill>
                <a:latin typeface="Inter"/>
                <a:ea typeface="Inter"/>
                <a:cs typeface="Inter"/>
                <a:sym typeface="Inter"/>
              </a:rPr>
              <a:t>risks to personal privacy, reputation, and financial security.</a:t>
            </a:r>
            <a:endParaRPr sz="1500">
              <a:solidFill>
                <a:srgbClr val="334155"/>
              </a:solidFill>
              <a:latin typeface="Inter"/>
              <a:ea typeface="Inter"/>
              <a:cs typeface="Inter"/>
              <a:sym typeface="Inter"/>
            </a:endParaRPr>
          </a:p>
          <a:p>
            <a:pPr indent="0" lvl="0" marL="0" marR="0" rtl="0" algn="ctr">
              <a:lnSpc>
                <a:spcPct val="160000"/>
              </a:lnSpc>
              <a:spcBef>
                <a:spcPts val="0"/>
              </a:spcBef>
              <a:spcAft>
                <a:spcPts val="0"/>
              </a:spcAft>
              <a:buNone/>
            </a:pPr>
            <a:r>
              <a:t/>
            </a:r>
            <a:endParaRPr sz="1500">
              <a:solidFill>
                <a:srgbClr val="334155"/>
              </a:solidFill>
              <a:latin typeface="Inter"/>
              <a:ea typeface="Inter"/>
              <a:cs typeface="Inter"/>
              <a:sym typeface="Inter"/>
            </a:endParaRPr>
          </a:p>
        </p:txBody>
      </p:sp>
      <p:sp>
        <p:nvSpPr>
          <p:cNvPr id="113" name="Google Shape;113;p15"/>
          <p:cNvSpPr txBox="1"/>
          <p:nvPr/>
        </p:nvSpPr>
        <p:spPr>
          <a:xfrm>
            <a:off x="4692705" y="1565937"/>
            <a:ext cx="29472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2100">
                <a:solidFill>
                  <a:srgbClr val="1E40AF"/>
                </a:solidFill>
                <a:latin typeface="Poppins SemiBold"/>
                <a:ea typeface="Poppins SemiBold"/>
                <a:cs typeface="Poppins SemiBold"/>
                <a:sym typeface="Poppins SemiBold"/>
              </a:rPr>
              <a:t>False Narratives</a:t>
            </a:r>
            <a:endParaRPr/>
          </a:p>
        </p:txBody>
      </p:sp>
      <p:sp>
        <p:nvSpPr>
          <p:cNvPr id="114" name="Google Shape;114;p15"/>
          <p:cNvSpPr txBox="1"/>
          <p:nvPr/>
        </p:nvSpPr>
        <p:spPr>
          <a:xfrm>
            <a:off x="4692674" y="2460912"/>
            <a:ext cx="2806800" cy="3555600"/>
          </a:xfrm>
          <a:prstGeom prst="rect">
            <a:avLst/>
          </a:prstGeom>
          <a:noFill/>
          <a:ln>
            <a:noFill/>
          </a:ln>
        </p:spPr>
        <p:txBody>
          <a:bodyPr anchorCtr="0" anchor="t" bIns="0" lIns="0" spcFirstLastPara="1" rIns="0" wrap="square" tIns="0">
            <a:spAutoFit/>
          </a:bodyPr>
          <a:lstStyle/>
          <a:p>
            <a:pPr indent="0" lvl="0" marL="0" rtl="0" algn="ctr">
              <a:lnSpc>
                <a:spcPct val="160000"/>
              </a:lnSpc>
              <a:spcBef>
                <a:spcPts val="0"/>
              </a:spcBef>
              <a:spcAft>
                <a:spcPts val="0"/>
              </a:spcAft>
              <a:buClr>
                <a:schemeClr val="dk1"/>
              </a:buClr>
              <a:buSzPts val="1100"/>
              <a:buFont typeface="Arial"/>
              <a:buNone/>
            </a:pPr>
            <a:r>
              <a:rPr lang="en-US" sz="1500">
                <a:solidFill>
                  <a:srgbClr val="334155"/>
                </a:solidFill>
                <a:latin typeface="Inter"/>
                <a:ea typeface="Inter"/>
                <a:cs typeface="Inter"/>
                <a:sym typeface="Inter"/>
              </a:rPr>
              <a:t>Synthetic media is being weaponized at scale to construct and propagate false</a:t>
            </a:r>
            <a:endParaRPr sz="1500">
              <a:solidFill>
                <a:srgbClr val="334155"/>
              </a:solidFill>
              <a:latin typeface="Inter"/>
              <a:ea typeface="Inter"/>
              <a:cs typeface="Inter"/>
              <a:sym typeface="Inter"/>
            </a:endParaRPr>
          </a:p>
          <a:p>
            <a:pPr indent="0" lvl="0" marL="0" rtl="0" algn="ctr">
              <a:lnSpc>
                <a:spcPct val="160000"/>
              </a:lnSpc>
              <a:spcBef>
                <a:spcPts val="0"/>
              </a:spcBef>
              <a:spcAft>
                <a:spcPts val="0"/>
              </a:spcAft>
              <a:buClr>
                <a:schemeClr val="dk1"/>
              </a:buClr>
              <a:buSzPts val="1100"/>
              <a:buFont typeface="Arial"/>
              <a:buNone/>
            </a:pPr>
            <a:r>
              <a:rPr lang="en-US" sz="1500">
                <a:solidFill>
                  <a:srgbClr val="334155"/>
                </a:solidFill>
                <a:latin typeface="Inter"/>
                <a:ea typeface="Inter"/>
                <a:cs typeface="Inter"/>
                <a:sym typeface="Inter"/>
              </a:rPr>
              <a:t>narratives. This includes fabricated interviews, events, or actions of public figures, undermining trust</a:t>
            </a:r>
            <a:endParaRPr sz="1500">
              <a:solidFill>
                <a:srgbClr val="334155"/>
              </a:solidFill>
              <a:latin typeface="Inter"/>
              <a:ea typeface="Inter"/>
              <a:cs typeface="Inter"/>
              <a:sym typeface="Inter"/>
            </a:endParaRPr>
          </a:p>
          <a:p>
            <a:pPr indent="0" lvl="0" marL="0" rtl="0" algn="ctr">
              <a:lnSpc>
                <a:spcPct val="160000"/>
              </a:lnSpc>
              <a:spcBef>
                <a:spcPts val="0"/>
              </a:spcBef>
              <a:spcAft>
                <a:spcPts val="0"/>
              </a:spcAft>
              <a:buClr>
                <a:schemeClr val="dk1"/>
              </a:buClr>
              <a:buSzPts val="1100"/>
              <a:buFont typeface="Arial"/>
              <a:buNone/>
            </a:pPr>
            <a:r>
              <a:rPr lang="en-US" sz="1500">
                <a:solidFill>
                  <a:srgbClr val="334155"/>
                </a:solidFill>
                <a:latin typeface="Inter"/>
                <a:ea typeface="Inter"/>
                <a:cs typeface="Inter"/>
                <a:sym typeface="Inter"/>
              </a:rPr>
              <a:t>in democratic processes and institutions.</a:t>
            </a:r>
            <a:endParaRPr sz="1500">
              <a:solidFill>
                <a:srgbClr val="334155"/>
              </a:solidFill>
              <a:latin typeface="Inter"/>
              <a:ea typeface="Inter"/>
              <a:cs typeface="Inter"/>
              <a:sym typeface="Inter"/>
            </a:endParaRPr>
          </a:p>
          <a:p>
            <a:pPr indent="0" lvl="0" marL="0" marR="0" rtl="0" algn="ctr">
              <a:lnSpc>
                <a:spcPct val="160000"/>
              </a:lnSpc>
              <a:spcBef>
                <a:spcPts val="0"/>
              </a:spcBef>
              <a:spcAft>
                <a:spcPts val="0"/>
              </a:spcAft>
              <a:buNone/>
            </a:pPr>
            <a:r>
              <a:t/>
            </a:r>
            <a:endParaRPr sz="1500">
              <a:solidFill>
                <a:srgbClr val="334155"/>
              </a:solidFill>
              <a:latin typeface="Inter"/>
              <a:ea typeface="Inter"/>
              <a:cs typeface="Inter"/>
              <a:sym typeface="Inter"/>
            </a:endParaRPr>
          </a:p>
        </p:txBody>
      </p:sp>
      <p:sp>
        <p:nvSpPr>
          <p:cNvPr id="115" name="Google Shape;115;p15"/>
          <p:cNvSpPr txBox="1"/>
          <p:nvPr/>
        </p:nvSpPr>
        <p:spPr>
          <a:xfrm>
            <a:off x="8768749" y="1404224"/>
            <a:ext cx="29472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2100">
                <a:solidFill>
                  <a:srgbClr val="1E40AF"/>
                </a:solidFill>
                <a:latin typeface="Poppins SemiBold"/>
                <a:ea typeface="Poppins SemiBold"/>
                <a:cs typeface="Poppins SemiBold"/>
                <a:sym typeface="Poppins SemiBold"/>
              </a:rPr>
              <a:t>Misinformation &amp; Deepfakes</a:t>
            </a:r>
            <a:endParaRPr/>
          </a:p>
        </p:txBody>
      </p:sp>
      <p:sp>
        <p:nvSpPr>
          <p:cNvPr id="116" name="Google Shape;116;p15"/>
          <p:cNvSpPr txBox="1"/>
          <p:nvPr/>
        </p:nvSpPr>
        <p:spPr>
          <a:xfrm>
            <a:off x="8487144" y="2460912"/>
            <a:ext cx="2947200" cy="3925200"/>
          </a:xfrm>
          <a:prstGeom prst="rect">
            <a:avLst/>
          </a:prstGeom>
          <a:noFill/>
          <a:ln>
            <a:noFill/>
          </a:ln>
        </p:spPr>
        <p:txBody>
          <a:bodyPr anchorCtr="0" anchor="t" bIns="0" lIns="0" spcFirstLastPara="1" rIns="0" wrap="square" tIns="0">
            <a:normAutofit/>
          </a:bodyPr>
          <a:lstStyle/>
          <a:p>
            <a:pPr indent="0" lvl="0" marL="0" rtl="0" algn="ctr">
              <a:lnSpc>
                <a:spcPct val="160000"/>
              </a:lnSpc>
              <a:spcBef>
                <a:spcPts val="0"/>
              </a:spcBef>
              <a:spcAft>
                <a:spcPts val="0"/>
              </a:spcAft>
              <a:buSzPts val="1100"/>
              <a:buNone/>
            </a:pPr>
            <a:r>
              <a:rPr lang="en-US" sz="1500">
                <a:solidFill>
                  <a:srgbClr val="334155"/>
                </a:solidFill>
                <a:latin typeface="Inter"/>
                <a:ea typeface="Inter"/>
                <a:cs typeface="Inter"/>
                <a:sym typeface="Inter"/>
              </a:rPr>
              <a:t>High definition diffusion models are now capable of generating</a:t>
            </a:r>
            <a:endParaRPr sz="1500">
              <a:solidFill>
                <a:srgbClr val="334155"/>
              </a:solidFill>
              <a:latin typeface="Inter"/>
              <a:ea typeface="Inter"/>
              <a:cs typeface="Inter"/>
              <a:sym typeface="Inter"/>
            </a:endParaRPr>
          </a:p>
          <a:p>
            <a:pPr indent="0" lvl="0" marL="0" rtl="0" algn="ctr">
              <a:lnSpc>
                <a:spcPct val="160000"/>
              </a:lnSpc>
              <a:spcBef>
                <a:spcPts val="0"/>
              </a:spcBef>
              <a:spcAft>
                <a:spcPts val="0"/>
              </a:spcAft>
              <a:buSzPts val="1100"/>
              <a:buNone/>
            </a:pPr>
            <a:r>
              <a:rPr lang="en-US" sz="1500">
                <a:solidFill>
                  <a:srgbClr val="334155"/>
                </a:solidFill>
                <a:latin typeface="Inter"/>
                <a:ea typeface="Inter"/>
                <a:cs typeface="Inter"/>
                <a:sym typeface="Inter"/>
              </a:rPr>
              <a:t>photo realistic images and videos that bypass standard visual checks. These can be used to create convincing fake news, manipulate public opinion, and spread disinformation with unprecedented</a:t>
            </a:r>
            <a:endParaRPr sz="1500">
              <a:solidFill>
                <a:srgbClr val="334155"/>
              </a:solidFill>
              <a:latin typeface="Inter"/>
              <a:ea typeface="Inter"/>
              <a:cs typeface="Inter"/>
              <a:sym typeface="Inter"/>
            </a:endParaRPr>
          </a:p>
          <a:p>
            <a:pPr indent="0" lvl="0" marL="0" rtl="0" algn="ctr">
              <a:lnSpc>
                <a:spcPct val="160000"/>
              </a:lnSpc>
              <a:spcBef>
                <a:spcPts val="0"/>
              </a:spcBef>
              <a:spcAft>
                <a:spcPts val="0"/>
              </a:spcAft>
              <a:buSzPts val="1100"/>
              <a:buNone/>
            </a:pPr>
            <a:r>
              <a:rPr lang="en-US" sz="1500">
                <a:solidFill>
                  <a:srgbClr val="334155"/>
                </a:solidFill>
                <a:latin typeface="Inter"/>
                <a:ea typeface="Inter"/>
                <a:cs typeface="Inter"/>
                <a:sym typeface="Inter"/>
              </a:rPr>
              <a:t>reach and speed.</a:t>
            </a:r>
            <a:endParaRPr sz="1500">
              <a:solidFill>
                <a:srgbClr val="334155"/>
              </a:solidFill>
              <a:latin typeface="Inter"/>
              <a:ea typeface="Inter"/>
              <a:cs typeface="Inter"/>
              <a:sym typeface="Inter"/>
            </a:endParaRPr>
          </a:p>
          <a:p>
            <a:pPr indent="0" lvl="0" marL="0" marR="0" rtl="0" algn="ctr">
              <a:lnSpc>
                <a:spcPct val="160000"/>
              </a:lnSpc>
              <a:spcBef>
                <a:spcPts val="0"/>
              </a:spcBef>
              <a:spcAft>
                <a:spcPts val="0"/>
              </a:spcAft>
              <a:buNone/>
            </a:pPr>
            <a:r>
              <a:t/>
            </a:r>
            <a:endParaRPr sz="1500">
              <a:solidFill>
                <a:srgbClr val="334155"/>
              </a:solidFill>
              <a:latin typeface="Inter"/>
              <a:ea typeface="Inter"/>
              <a:cs typeface="Inter"/>
              <a:sym typeface="Inter"/>
            </a:endParaRPr>
          </a:p>
        </p:txBody>
      </p:sp>
      <p:pic>
        <p:nvPicPr>
          <p:cNvPr descr="image.png" id="117" name="Google Shape;117;p15"/>
          <p:cNvPicPr preferRelativeResize="0"/>
          <p:nvPr/>
        </p:nvPicPr>
        <p:blipFill rotWithShape="1">
          <a:blip r:embed="rId6">
            <a:alphaModFix/>
          </a:blip>
          <a:srcRect b="0" l="0" r="0" t="0"/>
          <a:stretch/>
        </p:blipFill>
        <p:spPr>
          <a:xfrm>
            <a:off x="641600" y="1513162"/>
            <a:ext cx="533400" cy="428625"/>
          </a:xfrm>
          <a:prstGeom prst="rect">
            <a:avLst/>
          </a:prstGeom>
          <a:noFill/>
          <a:ln>
            <a:noFill/>
          </a:ln>
        </p:spPr>
      </p:pic>
      <p:pic>
        <p:nvPicPr>
          <p:cNvPr descr="image.png" id="118" name="Google Shape;118;p15"/>
          <p:cNvPicPr preferRelativeResize="0"/>
          <p:nvPr/>
        </p:nvPicPr>
        <p:blipFill rotWithShape="1">
          <a:blip r:embed="rId7">
            <a:alphaModFix/>
          </a:blip>
          <a:srcRect b="0" l="0" r="0" t="0"/>
          <a:stretch/>
        </p:blipFill>
        <p:spPr>
          <a:xfrm>
            <a:off x="4464750" y="1513162"/>
            <a:ext cx="533400" cy="428625"/>
          </a:xfrm>
          <a:prstGeom prst="rect">
            <a:avLst/>
          </a:prstGeom>
          <a:noFill/>
          <a:ln>
            <a:noFill/>
          </a:ln>
        </p:spPr>
      </p:pic>
      <p:pic>
        <p:nvPicPr>
          <p:cNvPr descr="image.png" id="119" name="Google Shape;119;p15"/>
          <p:cNvPicPr preferRelativeResize="0"/>
          <p:nvPr/>
        </p:nvPicPr>
        <p:blipFill rotWithShape="1">
          <a:blip r:embed="rId8">
            <a:alphaModFix/>
          </a:blip>
          <a:srcRect b="0" l="0" r="0" t="0"/>
          <a:stretch/>
        </p:blipFill>
        <p:spPr>
          <a:xfrm>
            <a:off x="8235343" y="1513174"/>
            <a:ext cx="533400" cy="428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pic>
        <p:nvPicPr>
          <p:cNvPr descr="image.png" id="124" name="Google Shape;124;p16"/>
          <p:cNvPicPr preferRelativeResize="0"/>
          <p:nvPr/>
        </p:nvPicPr>
        <p:blipFill rotWithShape="1">
          <a:blip r:embed="rId3">
            <a:alphaModFix/>
          </a:blip>
          <a:srcRect b="0" l="0" r="0" t="0"/>
          <a:stretch/>
        </p:blipFill>
        <p:spPr>
          <a:xfrm>
            <a:off x="571500" y="1809750"/>
            <a:ext cx="3492549" cy="4171950"/>
          </a:xfrm>
          <a:prstGeom prst="rect">
            <a:avLst/>
          </a:prstGeom>
          <a:noFill/>
          <a:ln>
            <a:noFill/>
          </a:ln>
        </p:spPr>
      </p:pic>
      <p:pic>
        <p:nvPicPr>
          <p:cNvPr descr="image.png" id="125" name="Google Shape;125;p16"/>
          <p:cNvPicPr preferRelativeResize="0"/>
          <p:nvPr/>
        </p:nvPicPr>
        <p:blipFill rotWithShape="1">
          <a:blip r:embed="rId4">
            <a:alphaModFix/>
          </a:blip>
          <a:srcRect b="0" l="0" r="0" t="0"/>
          <a:stretch/>
        </p:blipFill>
        <p:spPr>
          <a:xfrm>
            <a:off x="4349799" y="1809750"/>
            <a:ext cx="3492549" cy="4171950"/>
          </a:xfrm>
          <a:prstGeom prst="rect">
            <a:avLst/>
          </a:prstGeom>
          <a:noFill/>
          <a:ln>
            <a:noFill/>
          </a:ln>
        </p:spPr>
      </p:pic>
      <p:pic>
        <p:nvPicPr>
          <p:cNvPr descr="image.png" id="126" name="Google Shape;126;p16"/>
          <p:cNvPicPr preferRelativeResize="0"/>
          <p:nvPr/>
        </p:nvPicPr>
        <p:blipFill rotWithShape="1">
          <a:blip r:embed="rId5">
            <a:alphaModFix/>
          </a:blip>
          <a:srcRect b="0" l="0" r="0" t="0"/>
          <a:stretch/>
        </p:blipFill>
        <p:spPr>
          <a:xfrm>
            <a:off x="8128099" y="1809750"/>
            <a:ext cx="3492549" cy="4171950"/>
          </a:xfrm>
          <a:prstGeom prst="rect">
            <a:avLst/>
          </a:prstGeom>
          <a:noFill/>
          <a:ln>
            <a:noFill/>
          </a:ln>
        </p:spPr>
      </p:pic>
      <p:sp>
        <p:nvSpPr>
          <p:cNvPr id="127" name="Google Shape;127;p16"/>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6"/>
          <p:cNvSpPr txBox="1"/>
          <p:nvPr/>
        </p:nvSpPr>
        <p:spPr>
          <a:xfrm>
            <a:off x="571500" y="55245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The Three Feature Approaches</a:t>
            </a:r>
            <a:endParaRPr/>
          </a:p>
        </p:txBody>
      </p:sp>
      <p:sp>
        <p:nvSpPr>
          <p:cNvPr id="129" name="Google Shape;129;p16"/>
          <p:cNvSpPr txBox="1"/>
          <p:nvPr/>
        </p:nvSpPr>
        <p:spPr>
          <a:xfrm>
            <a:off x="844231" y="2867025"/>
            <a:ext cx="2947200" cy="8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1E40AF"/>
                </a:solidFill>
                <a:latin typeface="Poppins SemiBold"/>
                <a:ea typeface="Poppins SemiBold"/>
                <a:cs typeface="Poppins SemiBold"/>
                <a:sym typeface="Poppins SemiBold"/>
              </a:rPr>
              <a:t>1. Plain RGB (Spatial)</a:t>
            </a:r>
            <a:endParaRPr/>
          </a:p>
        </p:txBody>
      </p:sp>
      <p:sp>
        <p:nvSpPr>
          <p:cNvPr id="130" name="Google Shape;130;p16"/>
          <p:cNvSpPr txBox="1"/>
          <p:nvPr/>
        </p:nvSpPr>
        <p:spPr>
          <a:xfrm>
            <a:off x="914400" y="3810000"/>
            <a:ext cx="2806800" cy="1828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Feeds raw pixel information into the model. Focuses on visual artifacts, textures, and color inconsistencies. Susceptible to compression washing out fine details.</a:t>
            </a:r>
            <a:endParaRPr/>
          </a:p>
        </p:txBody>
      </p:sp>
      <p:sp>
        <p:nvSpPr>
          <p:cNvPr id="131" name="Google Shape;131;p16"/>
          <p:cNvSpPr txBox="1"/>
          <p:nvPr/>
        </p:nvSpPr>
        <p:spPr>
          <a:xfrm>
            <a:off x="4622530" y="2867025"/>
            <a:ext cx="2947087" cy="8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1E40AF"/>
                </a:solidFill>
                <a:latin typeface="Poppins SemiBold"/>
                <a:ea typeface="Poppins SemiBold"/>
                <a:cs typeface="Poppins SemiBold"/>
                <a:sym typeface="Poppins SemiBold"/>
              </a:rPr>
              <a:t>2. Plain FFT (Frequency)</a:t>
            </a:r>
            <a:endParaRPr/>
          </a:p>
        </p:txBody>
      </p:sp>
      <p:sp>
        <p:nvSpPr>
          <p:cNvPr id="132" name="Google Shape;132;p16"/>
          <p:cNvSpPr txBox="1"/>
          <p:nvPr/>
        </p:nvSpPr>
        <p:spPr>
          <a:xfrm>
            <a:off x="4692699" y="3810000"/>
            <a:ext cx="2806749" cy="1828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Converts frames into frequency domain. Blind to spatial visual content but highly sensitive to repeating grids, upsampling artifacts, and spectral peaks.</a:t>
            </a:r>
            <a:endParaRPr/>
          </a:p>
        </p:txBody>
      </p:sp>
      <p:sp>
        <p:nvSpPr>
          <p:cNvPr id="133" name="Google Shape;133;p16"/>
          <p:cNvSpPr txBox="1"/>
          <p:nvPr/>
        </p:nvSpPr>
        <p:spPr>
          <a:xfrm>
            <a:off x="8739157" y="2867025"/>
            <a:ext cx="2270283"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1E40AF"/>
                </a:solidFill>
                <a:latin typeface="Poppins SemiBold"/>
                <a:ea typeface="Poppins SemiBold"/>
                <a:cs typeface="Poppins SemiBold"/>
                <a:sym typeface="Poppins SemiBold"/>
              </a:rPr>
              <a:t>3. Hybrid Fusion</a:t>
            </a:r>
            <a:endParaRPr/>
          </a:p>
        </p:txBody>
      </p:sp>
      <p:sp>
        <p:nvSpPr>
          <p:cNvPr id="134" name="Google Shape;134;p16"/>
          <p:cNvSpPr txBox="1"/>
          <p:nvPr/>
        </p:nvSpPr>
        <p:spPr>
          <a:xfrm>
            <a:off x="8470999" y="3409950"/>
            <a:ext cx="2806749" cy="1828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Dual-branch architecture that extracts both spatial and frequency features simultaneously, correlating visual glitches with spectral spikes.</a:t>
            </a:r>
            <a:endParaRPr/>
          </a:p>
        </p:txBody>
      </p:sp>
      <p:pic>
        <p:nvPicPr>
          <p:cNvPr descr="image.png" id="135" name="Google Shape;135;p16"/>
          <p:cNvPicPr preferRelativeResize="0"/>
          <p:nvPr/>
        </p:nvPicPr>
        <p:blipFill rotWithShape="1">
          <a:blip r:embed="rId6">
            <a:alphaModFix/>
          </a:blip>
          <a:srcRect b="0" l="0" r="0" t="0"/>
          <a:stretch/>
        </p:blipFill>
        <p:spPr>
          <a:xfrm>
            <a:off x="2103387" y="2200275"/>
            <a:ext cx="428625" cy="428625"/>
          </a:xfrm>
          <a:prstGeom prst="rect">
            <a:avLst/>
          </a:prstGeom>
          <a:noFill/>
          <a:ln>
            <a:noFill/>
          </a:ln>
        </p:spPr>
      </p:pic>
      <p:pic>
        <p:nvPicPr>
          <p:cNvPr descr="image.png" id="136" name="Google Shape;136;p16"/>
          <p:cNvPicPr preferRelativeResize="0"/>
          <p:nvPr/>
        </p:nvPicPr>
        <p:blipFill rotWithShape="1">
          <a:blip r:embed="rId7">
            <a:alphaModFix/>
          </a:blip>
          <a:srcRect b="0" l="0" r="0" t="0"/>
          <a:stretch/>
        </p:blipFill>
        <p:spPr>
          <a:xfrm>
            <a:off x="5910262" y="2200275"/>
            <a:ext cx="371475" cy="428625"/>
          </a:xfrm>
          <a:prstGeom prst="rect">
            <a:avLst/>
          </a:prstGeom>
          <a:noFill/>
          <a:ln>
            <a:noFill/>
          </a:ln>
        </p:spPr>
      </p:pic>
      <p:pic>
        <p:nvPicPr>
          <p:cNvPr descr="image.png" id="137" name="Google Shape;137;p16"/>
          <p:cNvPicPr preferRelativeResize="0"/>
          <p:nvPr/>
        </p:nvPicPr>
        <p:blipFill rotWithShape="1">
          <a:blip r:embed="rId8">
            <a:alphaModFix/>
          </a:blip>
          <a:srcRect b="0" l="0" r="0" t="0"/>
          <a:stretch/>
        </p:blipFill>
        <p:spPr>
          <a:xfrm>
            <a:off x="9607599" y="2200275"/>
            <a:ext cx="533400" cy="428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17"/>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7"/>
          <p:cNvSpPr txBox="1"/>
          <p:nvPr/>
        </p:nvSpPr>
        <p:spPr>
          <a:xfrm>
            <a:off x="571500" y="55245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000">
                <a:solidFill>
                  <a:srgbClr val="1E3A8A"/>
                </a:solidFill>
                <a:latin typeface="Poppins SemiBold"/>
                <a:ea typeface="Poppins SemiBold"/>
                <a:cs typeface="Poppins SemiBold"/>
                <a:sym typeface="Poppins SemiBold"/>
              </a:rPr>
              <a:t>Workflow</a:t>
            </a:r>
            <a:endParaRPr sz="3000">
              <a:solidFill>
                <a:srgbClr val="1E3A8A"/>
              </a:solidFill>
              <a:latin typeface="Poppins SemiBold"/>
              <a:ea typeface="Poppins SemiBold"/>
              <a:cs typeface="Poppins SemiBold"/>
              <a:sym typeface="Poppins SemiBold"/>
            </a:endParaRPr>
          </a:p>
        </p:txBody>
      </p:sp>
      <p:pic>
        <p:nvPicPr>
          <p:cNvPr id="144" name="Google Shape;144;p17" title="Screenshot 2026-07-09 192014.png"/>
          <p:cNvPicPr preferRelativeResize="0"/>
          <p:nvPr/>
        </p:nvPicPr>
        <p:blipFill>
          <a:blip r:embed="rId3">
            <a:alphaModFix/>
          </a:blip>
          <a:stretch>
            <a:fillRect/>
          </a:stretch>
        </p:blipFill>
        <p:spPr>
          <a:xfrm>
            <a:off x="596638" y="1369625"/>
            <a:ext cx="10998726" cy="5008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8"/>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8"/>
          <p:cNvSpPr txBox="1"/>
          <p:nvPr/>
        </p:nvSpPr>
        <p:spPr>
          <a:xfrm>
            <a:off x="571500" y="55245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Dataset &amp; Preprocessing Strategy</a:t>
            </a:r>
            <a:endParaRPr/>
          </a:p>
        </p:txBody>
      </p:sp>
      <p:sp>
        <p:nvSpPr>
          <p:cNvPr id="151" name="Google Shape;151;p18"/>
          <p:cNvSpPr/>
          <p:nvPr/>
        </p:nvSpPr>
        <p:spPr>
          <a:xfrm>
            <a:off x="6334188" y="2166950"/>
            <a:ext cx="5286300" cy="3648000"/>
          </a:xfrm>
          <a:prstGeom prst="roundRect">
            <a:avLst>
              <a:gd fmla="val 14629"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p18"/>
          <p:cNvSpPr/>
          <p:nvPr/>
        </p:nvSpPr>
        <p:spPr>
          <a:xfrm>
            <a:off x="571563" y="2166950"/>
            <a:ext cx="5286300" cy="3648000"/>
          </a:xfrm>
          <a:prstGeom prst="roundRect">
            <a:avLst>
              <a:gd fmla="val 16667"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3" name="Google Shape;153;p18"/>
          <p:cNvSpPr txBox="1"/>
          <p:nvPr/>
        </p:nvSpPr>
        <p:spPr>
          <a:xfrm>
            <a:off x="962025" y="3005137"/>
            <a:ext cx="45054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The dataset consists of exactly </a:t>
            </a:r>
            <a:r>
              <a:rPr b="1" i="0" lang="en-US" sz="1500" u="none" cap="none" strike="noStrike">
                <a:solidFill>
                  <a:srgbClr val="334155"/>
                </a:solidFill>
                <a:latin typeface="Inter"/>
                <a:ea typeface="Inter"/>
                <a:cs typeface="Inter"/>
                <a:sym typeface="Inter"/>
              </a:rPr>
              <a:t>200 videos</a:t>
            </a:r>
            <a:r>
              <a:rPr b="0" i="0" lang="en-US" sz="1500" u="none" cap="none" strike="noStrike">
                <a:solidFill>
                  <a:srgbClr val="334155"/>
                </a:solidFill>
                <a:latin typeface="Inter"/>
                <a:ea typeface="Inter"/>
                <a:cs typeface="Inter"/>
                <a:sym typeface="Inter"/>
              </a:rPr>
              <a:t> (100 Real, 100 AI-Generated). Videos were sourced from a wide variety of generators rather than a single source.</a:t>
            </a:r>
            <a:endParaRPr/>
          </a:p>
        </p:txBody>
      </p:sp>
      <p:sp>
        <p:nvSpPr>
          <p:cNvPr id="154" name="Google Shape;154;p18"/>
          <p:cNvSpPr txBox="1"/>
          <p:nvPr/>
        </p:nvSpPr>
        <p:spPr>
          <a:xfrm>
            <a:off x="962025" y="4414837"/>
            <a:ext cx="4505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This diversity forces the model to learn universal indicators of synthetic content rather than memorizing the quirks of one specific AI tool.</a:t>
            </a:r>
            <a:endParaRPr/>
          </a:p>
        </p:txBody>
      </p:sp>
      <p:sp>
        <p:nvSpPr>
          <p:cNvPr id="155" name="Google Shape;155;p18"/>
          <p:cNvSpPr txBox="1"/>
          <p:nvPr/>
        </p:nvSpPr>
        <p:spPr>
          <a:xfrm>
            <a:off x="6724650" y="3005137"/>
            <a:ext cx="4505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To combat the small dataset size and prevent </a:t>
            </a:r>
            <a:r>
              <a:rPr b="1" i="0" lang="en-US" sz="1500" u="none" cap="none" strike="noStrike">
                <a:solidFill>
                  <a:srgbClr val="334155"/>
                </a:solidFill>
                <a:latin typeface="Inter"/>
                <a:ea typeface="Inter"/>
                <a:cs typeface="Inter"/>
                <a:sym typeface="Inter"/>
              </a:rPr>
              <a:t>overfitting</a:t>
            </a:r>
            <a:r>
              <a:rPr b="0" i="0" lang="en-US" sz="1500" u="none" cap="none" strike="noStrike">
                <a:solidFill>
                  <a:srgbClr val="334155"/>
                </a:solidFill>
                <a:latin typeface="Inter"/>
                <a:ea typeface="Inter"/>
                <a:cs typeface="Inter"/>
                <a:sym typeface="Inter"/>
              </a:rPr>
              <a:t>, aggressive data augmentation was applied </a:t>
            </a:r>
            <a:r>
              <a:rPr b="0" i="1" lang="en-US" sz="1500" u="none" cap="none" strike="noStrike">
                <a:solidFill>
                  <a:srgbClr val="334155"/>
                </a:solidFill>
                <a:latin typeface="Inter"/>
                <a:ea typeface="Inter"/>
                <a:cs typeface="Inter"/>
                <a:sym typeface="Inter"/>
              </a:rPr>
              <a:t>only to the training data</a:t>
            </a:r>
            <a:r>
              <a:rPr b="0" i="0" lang="en-US" sz="1500" u="none" cap="none" strike="noStrike">
                <a:solidFill>
                  <a:srgbClr val="334155"/>
                </a:solidFill>
                <a:latin typeface="Inter"/>
                <a:ea typeface="Inter"/>
                <a:cs typeface="Inter"/>
                <a:sym typeface="Inter"/>
              </a:rPr>
              <a:t>.</a:t>
            </a:r>
            <a:endParaRPr/>
          </a:p>
        </p:txBody>
      </p:sp>
      <p:sp>
        <p:nvSpPr>
          <p:cNvPr id="156" name="Google Shape;156;p18"/>
          <p:cNvSpPr txBox="1"/>
          <p:nvPr/>
        </p:nvSpPr>
        <p:spPr>
          <a:xfrm>
            <a:off x="6724650" y="4110037"/>
            <a:ext cx="45054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Techniques included: </a:t>
            </a:r>
            <a:r>
              <a:rPr b="1" i="0" lang="en-US" sz="1500" u="none" cap="none" strike="noStrike">
                <a:solidFill>
                  <a:srgbClr val="334155"/>
                </a:solidFill>
                <a:latin typeface="Inter"/>
                <a:ea typeface="Inter"/>
                <a:cs typeface="Inter"/>
                <a:sym typeface="Inter"/>
              </a:rPr>
              <a:t>horizontal flipping, small rotations, brightness shifts, blurring, and random erasing </a:t>
            </a:r>
            <a:r>
              <a:rPr b="0" i="0" lang="en-US" sz="1500" u="none" cap="none" strike="noStrike">
                <a:solidFill>
                  <a:srgbClr val="334155"/>
                </a:solidFill>
                <a:latin typeface="Inter"/>
                <a:ea typeface="Inter"/>
                <a:cs typeface="Inter"/>
                <a:sym typeface="Inter"/>
              </a:rPr>
              <a:t>to improve real-world generalization.</a:t>
            </a:r>
            <a:endParaRPr/>
          </a:p>
        </p:txBody>
      </p:sp>
      <p:sp>
        <p:nvSpPr>
          <p:cNvPr id="157" name="Google Shape;157;p18"/>
          <p:cNvSpPr/>
          <p:nvPr/>
        </p:nvSpPr>
        <p:spPr>
          <a:xfrm>
            <a:off x="6667475" y="2363188"/>
            <a:ext cx="28830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8" name="Google Shape;158;p18"/>
          <p:cNvSpPr/>
          <p:nvPr/>
        </p:nvSpPr>
        <p:spPr>
          <a:xfrm>
            <a:off x="873125" y="2369950"/>
            <a:ext cx="27624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9" name="Google Shape;159;p18"/>
          <p:cNvSpPr txBox="1"/>
          <p:nvPr/>
        </p:nvSpPr>
        <p:spPr>
          <a:xfrm>
            <a:off x="962025" y="2462212"/>
            <a:ext cx="47307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E40AF"/>
                </a:solidFill>
                <a:latin typeface="Poppins SemiBold"/>
                <a:ea typeface="Poppins SemiBold"/>
                <a:cs typeface="Poppins SemiBold"/>
                <a:sym typeface="Poppins SemiBold"/>
              </a:rPr>
              <a:t>Dataset Collection</a:t>
            </a:r>
            <a:endParaRPr/>
          </a:p>
        </p:txBody>
      </p:sp>
      <p:sp>
        <p:nvSpPr>
          <p:cNvPr id="160" name="Google Shape;160;p18"/>
          <p:cNvSpPr txBox="1"/>
          <p:nvPr/>
        </p:nvSpPr>
        <p:spPr>
          <a:xfrm>
            <a:off x="6724650" y="2462212"/>
            <a:ext cx="47307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E40AF"/>
                </a:solidFill>
                <a:latin typeface="Poppins SemiBold"/>
                <a:ea typeface="Poppins SemiBold"/>
                <a:cs typeface="Poppins SemiBold"/>
                <a:sym typeface="Poppins SemiBold"/>
              </a:rPr>
              <a:t>Data Augmentation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9"/>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9"/>
          <p:cNvSpPr txBox="1"/>
          <p:nvPr/>
        </p:nvSpPr>
        <p:spPr>
          <a:xfrm>
            <a:off x="571500" y="55245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Optimal Frame Extraction</a:t>
            </a:r>
            <a:endParaRPr/>
          </a:p>
        </p:txBody>
      </p:sp>
      <p:sp>
        <p:nvSpPr>
          <p:cNvPr id="167" name="Google Shape;167;p19"/>
          <p:cNvSpPr txBox="1"/>
          <p:nvPr/>
        </p:nvSpPr>
        <p:spPr>
          <a:xfrm>
            <a:off x="6168450" y="1978512"/>
            <a:ext cx="555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E40AF"/>
                </a:solidFill>
                <a:latin typeface="Poppins SemiBold"/>
                <a:ea typeface="Poppins SemiBold"/>
                <a:cs typeface="Poppins SemiBold"/>
                <a:sym typeface="Poppins SemiBold"/>
              </a:rPr>
              <a:t>Balancing Data and Computation</a:t>
            </a:r>
            <a:endParaRPr/>
          </a:p>
        </p:txBody>
      </p:sp>
      <p:sp>
        <p:nvSpPr>
          <p:cNvPr id="168" name="Google Shape;168;p19"/>
          <p:cNvSpPr txBox="1"/>
          <p:nvPr/>
        </p:nvSpPr>
        <p:spPr>
          <a:xfrm>
            <a:off x="6168450" y="2521437"/>
            <a:ext cx="52863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Processing every frame of a video is highly computationally expensive. We experimented with extracting 10, 20, 30, and 40 frames per video.</a:t>
            </a:r>
            <a:endParaRPr/>
          </a:p>
        </p:txBody>
      </p:sp>
      <p:sp>
        <p:nvSpPr>
          <p:cNvPr id="169" name="Google Shape;169;p19"/>
          <p:cNvSpPr txBox="1"/>
          <p:nvPr/>
        </p:nvSpPr>
        <p:spPr>
          <a:xfrm>
            <a:off x="6168450" y="3626337"/>
            <a:ext cx="52863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10-20 frames</a:t>
            </a:r>
            <a:r>
              <a:rPr b="0" i="0" lang="en-US" sz="1500" u="none" cap="none" strike="noStrike">
                <a:solidFill>
                  <a:srgbClr val="334155"/>
                </a:solidFill>
                <a:latin typeface="Inter"/>
                <a:ea typeface="Inter"/>
                <a:cs typeface="Inter"/>
                <a:sym typeface="Inter"/>
              </a:rPr>
              <a:t> lacked sufficient scene coverage. </a:t>
            </a:r>
            <a:r>
              <a:rPr b="1" i="0" lang="en-US" sz="1500" u="none" cap="none" strike="noStrike">
                <a:solidFill>
                  <a:srgbClr val="334155"/>
                </a:solidFill>
                <a:latin typeface="Inter"/>
                <a:ea typeface="Inter"/>
                <a:cs typeface="Inter"/>
                <a:sym typeface="Inter"/>
              </a:rPr>
              <a:t>40 frames</a:t>
            </a:r>
            <a:r>
              <a:rPr b="0" i="0" lang="en-US" sz="1500" u="none" cap="none" strike="noStrike">
                <a:solidFill>
                  <a:srgbClr val="334155"/>
                </a:solidFill>
                <a:latin typeface="Inter"/>
                <a:ea typeface="Inter"/>
                <a:cs typeface="Inter"/>
                <a:sym typeface="Inter"/>
              </a:rPr>
              <a:t> introduced redundancy and increased training time. Extracting exactly </a:t>
            </a:r>
            <a:r>
              <a:rPr b="1" i="0" lang="en-US" sz="1500" u="none" cap="none" strike="noStrike">
                <a:solidFill>
                  <a:srgbClr val="334155"/>
                </a:solidFill>
                <a:latin typeface="Inter"/>
                <a:ea typeface="Inter"/>
                <a:cs typeface="Inter"/>
                <a:sym typeface="Inter"/>
              </a:rPr>
              <a:t>25 frames</a:t>
            </a:r>
            <a:r>
              <a:rPr b="0" i="0" lang="en-US" sz="1500" u="none" cap="none" strike="noStrike">
                <a:solidFill>
                  <a:srgbClr val="334155"/>
                </a:solidFill>
                <a:latin typeface="Inter"/>
                <a:ea typeface="Inter"/>
                <a:cs typeface="Inter"/>
                <a:sym typeface="Inter"/>
              </a:rPr>
              <a:t> provided the perfect trade-off between capturing visual content and maintaining computational efficiency.</a:t>
            </a:r>
            <a:endParaRPr/>
          </a:p>
        </p:txBody>
      </p:sp>
      <p:pic>
        <p:nvPicPr>
          <p:cNvPr id="170" name="Google Shape;170;p19" title="Screenshot 2026-07-09 192036.png"/>
          <p:cNvPicPr preferRelativeResize="0"/>
          <p:nvPr/>
        </p:nvPicPr>
        <p:blipFill>
          <a:blip r:embed="rId3">
            <a:alphaModFix/>
          </a:blip>
          <a:stretch>
            <a:fillRect/>
          </a:stretch>
        </p:blipFill>
        <p:spPr>
          <a:xfrm>
            <a:off x="814074" y="1896725"/>
            <a:ext cx="4472750" cy="3889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20"/>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20"/>
          <p:cNvSpPr txBox="1"/>
          <p:nvPr/>
        </p:nvSpPr>
        <p:spPr>
          <a:xfrm>
            <a:off x="590400" y="306125"/>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Model Architecture: ResNet18</a:t>
            </a:r>
            <a:endParaRPr/>
          </a:p>
        </p:txBody>
      </p:sp>
      <p:sp>
        <p:nvSpPr>
          <p:cNvPr id="177" name="Google Shape;177;p20"/>
          <p:cNvSpPr txBox="1"/>
          <p:nvPr/>
        </p:nvSpPr>
        <p:spPr>
          <a:xfrm>
            <a:off x="714225" y="1160788"/>
            <a:ext cx="5048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Backbone:</a:t>
            </a:r>
            <a:r>
              <a:rPr b="0" i="0" lang="en-US" sz="1500" u="none" cap="none" strike="noStrike">
                <a:solidFill>
                  <a:srgbClr val="334155"/>
                </a:solidFill>
                <a:latin typeface="Inter"/>
                <a:ea typeface="Inter"/>
                <a:cs typeface="Inter"/>
                <a:sym typeface="Inter"/>
              </a:rPr>
              <a:t> Pre-trained ResNet18 (ImageNet weights). Chosen because it is deep enough to catch subtle artifacts but lightweight enough for Google Colab.</a:t>
            </a:r>
            <a:endParaRPr/>
          </a:p>
        </p:txBody>
      </p:sp>
      <p:sp>
        <p:nvSpPr>
          <p:cNvPr id="178" name="Google Shape;178;p20"/>
          <p:cNvSpPr txBox="1"/>
          <p:nvPr/>
        </p:nvSpPr>
        <p:spPr>
          <a:xfrm>
            <a:off x="714225" y="2218063"/>
            <a:ext cx="5048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500">
                <a:solidFill>
                  <a:srgbClr val="334155"/>
                </a:solidFill>
                <a:latin typeface="Inter"/>
                <a:ea typeface="Inter"/>
                <a:cs typeface="Inter"/>
                <a:sym typeface="Inter"/>
              </a:rPr>
              <a:t>Convolution layers </a:t>
            </a:r>
            <a:r>
              <a:rPr lang="en-US" sz="1500">
                <a:solidFill>
                  <a:srgbClr val="334155"/>
                </a:solidFill>
                <a:latin typeface="Inter"/>
                <a:ea typeface="Inter"/>
                <a:cs typeface="Inter"/>
                <a:sym typeface="Inter"/>
              </a:rPr>
              <a:t>extract spatial features by sliding learnable filters over the input, going from low-level to high-level features as depth increases</a:t>
            </a:r>
            <a:endParaRPr sz="1500">
              <a:solidFill>
                <a:srgbClr val="334155"/>
              </a:solidFill>
              <a:latin typeface="Inter"/>
              <a:ea typeface="Inter"/>
              <a:cs typeface="Inter"/>
              <a:sym typeface="Inter"/>
            </a:endParaRPr>
          </a:p>
        </p:txBody>
      </p:sp>
      <p:sp>
        <p:nvSpPr>
          <p:cNvPr id="179" name="Google Shape;179;p20"/>
          <p:cNvSpPr txBox="1"/>
          <p:nvPr/>
        </p:nvSpPr>
        <p:spPr>
          <a:xfrm>
            <a:off x="720838" y="5744900"/>
            <a:ext cx="50484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180" name="Google Shape;180;p20"/>
          <p:cNvSpPr txBox="1"/>
          <p:nvPr/>
        </p:nvSpPr>
        <p:spPr>
          <a:xfrm>
            <a:off x="476100" y="1217938"/>
            <a:ext cx="762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sp>
        <p:nvSpPr>
          <p:cNvPr id="181" name="Google Shape;181;p20"/>
          <p:cNvSpPr txBox="1"/>
          <p:nvPr/>
        </p:nvSpPr>
        <p:spPr>
          <a:xfrm>
            <a:off x="476100" y="2275213"/>
            <a:ext cx="762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sp>
        <p:nvSpPr>
          <p:cNvPr id="182" name="Google Shape;182;p20"/>
          <p:cNvSpPr txBox="1"/>
          <p:nvPr/>
        </p:nvSpPr>
        <p:spPr>
          <a:xfrm>
            <a:off x="451188" y="5586750"/>
            <a:ext cx="762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pic>
        <p:nvPicPr>
          <p:cNvPr id="183" name="Google Shape;183;p20"/>
          <p:cNvPicPr preferRelativeResize="0"/>
          <p:nvPr/>
        </p:nvPicPr>
        <p:blipFill>
          <a:blip r:embed="rId3">
            <a:alphaModFix/>
          </a:blip>
          <a:stretch>
            <a:fillRect/>
          </a:stretch>
        </p:blipFill>
        <p:spPr>
          <a:xfrm>
            <a:off x="6584547" y="1229888"/>
            <a:ext cx="3782503" cy="5019675"/>
          </a:xfrm>
          <a:prstGeom prst="rect">
            <a:avLst/>
          </a:prstGeom>
          <a:noFill/>
          <a:ln>
            <a:noFill/>
          </a:ln>
        </p:spPr>
      </p:pic>
      <p:sp>
        <p:nvSpPr>
          <p:cNvPr id="184" name="Google Shape;184;p20"/>
          <p:cNvSpPr txBox="1"/>
          <p:nvPr/>
        </p:nvSpPr>
        <p:spPr>
          <a:xfrm>
            <a:off x="590400" y="3275350"/>
            <a:ext cx="4823400" cy="37404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0"/>
              </a:spcBef>
              <a:spcAft>
                <a:spcPts val="0"/>
              </a:spcAft>
              <a:buNone/>
            </a:pPr>
            <a:r>
              <a:rPr b="1" lang="en-US" sz="1500">
                <a:solidFill>
                  <a:srgbClr val="334155"/>
                </a:solidFill>
                <a:latin typeface="Inter"/>
                <a:ea typeface="Inter"/>
                <a:cs typeface="Inter"/>
                <a:sym typeface="Inter"/>
              </a:rPr>
              <a:t>P</a:t>
            </a:r>
            <a:r>
              <a:rPr b="1" lang="en-US" sz="1500">
                <a:solidFill>
                  <a:srgbClr val="334155"/>
                </a:solidFill>
                <a:latin typeface="Inter"/>
                <a:ea typeface="Inter"/>
                <a:cs typeface="Inter"/>
                <a:sym typeface="Inter"/>
              </a:rPr>
              <a:t>ooling </a:t>
            </a:r>
            <a:r>
              <a:rPr lang="en-US" sz="1500">
                <a:solidFill>
                  <a:srgbClr val="334155"/>
                </a:solidFill>
                <a:latin typeface="Inter"/>
                <a:ea typeface="Inter"/>
                <a:cs typeface="Inter"/>
                <a:sym typeface="Inter"/>
              </a:rPr>
              <a:t>max pooling &amp; global average pooling) downsamples the spatial dimensions and reduces the parameter count before classification.</a:t>
            </a:r>
            <a:endParaRPr sz="1500">
              <a:solidFill>
                <a:srgbClr val="334155"/>
              </a:solidFill>
              <a:latin typeface="Inter"/>
              <a:ea typeface="Inter"/>
              <a:cs typeface="Inter"/>
              <a:sym typeface="Inter"/>
            </a:endParaRPr>
          </a:p>
          <a:p>
            <a:pPr indent="0" lvl="0" marL="0" rtl="0" algn="l">
              <a:lnSpc>
                <a:spcPct val="160000"/>
              </a:lnSpc>
              <a:spcBef>
                <a:spcPts val="0"/>
              </a:spcBef>
              <a:spcAft>
                <a:spcPts val="0"/>
              </a:spcAft>
              <a:buNone/>
            </a:pPr>
            <a:r>
              <a:rPr b="1" lang="en-US" sz="1500">
                <a:solidFill>
                  <a:srgbClr val="334155"/>
                </a:solidFill>
                <a:latin typeface="Inter"/>
                <a:ea typeface="Inter"/>
                <a:cs typeface="Inter"/>
                <a:sym typeface="Inter"/>
              </a:rPr>
              <a:t>BatchNorm</a:t>
            </a:r>
            <a:r>
              <a:rPr lang="en-US" sz="1500">
                <a:solidFill>
                  <a:srgbClr val="334155"/>
                </a:solidFill>
                <a:latin typeface="Inter"/>
                <a:ea typeface="Inter"/>
                <a:cs typeface="Inter"/>
                <a:sym typeface="Inter"/>
              </a:rPr>
              <a:t> is applied after each conv layer to normalize activations, stabilizing and speeding up training</a:t>
            </a:r>
            <a:endParaRPr sz="1500">
              <a:solidFill>
                <a:srgbClr val="334155"/>
              </a:solidFill>
              <a:latin typeface="Inter"/>
              <a:ea typeface="Inter"/>
              <a:cs typeface="Inter"/>
              <a:sym typeface="Inter"/>
            </a:endParaRPr>
          </a:p>
          <a:p>
            <a:pPr indent="0" lvl="0" marL="0" rtl="0" algn="l">
              <a:lnSpc>
                <a:spcPct val="160000"/>
              </a:lnSpc>
              <a:spcBef>
                <a:spcPts val="0"/>
              </a:spcBef>
              <a:spcAft>
                <a:spcPts val="0"/>
              </a:spcAft>
              <a:buNone/>
            </a:pPr>
            <a:r>
              <a:rPr b="1" lang="en-US" sz="1500">
                <a:solidFill>
                  <a:srgbClr val="334155"/>
                </a:solidFill>
                <a:latin typeface="Inter"/>
                <a:ea typeface="Inter"/>
                <a:cs typeface="Inter"/>
                <a:sym typeface="Inter"/>
              </a:rPr>
              <a:t>Residual Connections:</a:t>
            </a:r>
            <a:r>
              <a:rPr lang="en-US" sz="1500">
                <a:solidFill>
                  <a:srgbClr val="334155"/>
                </a:solidFill>
                <a:latin typeface="Inter"/>
                <a:ea typeface="Inter"/>
                <a:cs typeface="Inter"/>
                <a:sym typeface="Inter"/>
              </a:rPr>
              <a:t> Prevents vanishing gradients, allowing the deep network to train effectively.</a:t>
            </a:r>
            <a:endParaRPr>
              <a:solidFill>
                <a:schemeClr val="dk1"/>
              </a:solidFill>
            </a:endParaRPr>
          </a:p>
          <a:p>
            <a:pPr indent="0" lvl="0" marL="0" rtl="0" algn="l">
              <a:lnSpc>
                <a:spcPct val="160000"/>
              </a:lnSpc>
              <a:spcBef>
                <a:spcPts val="0"/>
              </a:spcBef>
              <a:spcAft>
                <a:spcPts val="0"/>
              </a:spcAft>
              <a:buNone/>
            </a:pPr>
            <a:r>
              <a:t/>
            </a:r>
            <a:endParaRPr sz="1500">
              <a:solidFill>
                <a:srgbClr val="334155"/>
              </a:solidFill>
              <a:latin typeface="Inter"/>
              <a:ea typeface="Inter"/>
              <a:cs typeface="Inter"/>
              <a:sym typeface="Inter"/>
            </a:endParaRPr>
          </a:p>
        </p:txBody>
      </p:sp>
      <p:sp>
        <p:nvSpPr>
          <p:cNvPr id="185" name="Google Shape;185;p20"/>
          <p:cNvSpPr txBox="1"/>
          <p:nvPr/>
        </p:nvSpPr>
        <p:spPr>
          <a:xfrm>
            <a:off x="451188" y="3402338"/>
            <a:ext cx="1260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sp>
        <p:nvSpPr>
          <p:cNvPr id="186" name="Google Shape;186;p20"/>
          <p:cNvSpPr txBox="1"/>
          <p:nvPr/>
        </p:nvSpPr>
        <p:spPr>
          <a:xfrm>
            <a:off x="457813" y="4504388"/>
            <a:ext cx="1260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21"/>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21"/>
          <p:cNvSpPr txBox="1"/>
          <p:nvPr/>
        </p:nvSpPr>
        <p:spPr>
          <a:xfrm>
            <a:off x="472975" y="182625"/>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000">
                <a:solidFill>
                  <a:srgbClr val="1E3A8A"/>
                </a:solidFill>
                <a:latin typeface="Poppins SemiBold"/>
                <a:ea typeface="Poppins SemiBold"/>
                <a:cs typeface="Poppins SemiBold"/>
                <a:sym typeface="Poppins SemiBold"/>
              </a:rPr>
              <a:t>RGB Based Detection</a:t>
            </a:r>
            <a:endParaRPr/>
          </a:p>
        </p:txBody>
      </p:sp>
      <p:sp>
        <p:nvSpPr>
          <p:cNvPr id="193" name="Google Shape;193;p21"/>
          <p:cNvSpPr/>
          <p:nvPr/>
        </p:nvSpPr>
        <p:spPr>
          <a:xfrm>
            <a:off x="415800" y="750750"/>
            <a:ext cx="5286300" cy="5826300"/>
          </a:xfrm>
          <a:prstGeom prst="roundRect">
            <a:avLst>
              <a:gd fmla="val 14629"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4" name="Google Shape;194;p21"/>
          <p:cNvSpPr txBox="1"/>
          <p:nvPr/>
        </p:nvSpPr>
        <p:spPr>
          <a:xfrm>
            <a:off x="983150" y="2001650"/>
            <a:ext cx="4299000" cy="35787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RGB serves as the primary spatial signal, allowing the model to analyze frames in their original camera-captured form. Each frame is resized, normalized, augmented, and passed through a ResNet-18 model with only Layer 4 and the final classification layer fine-tuned to detect AI-generated artifacts. Per-frame predictions are combined using majority voting to produce the final video-level classification.</a:t>
            </a:r>
            <a:endParaRPr sz="1500">
              <a:solidFill>
                <a:srgbClr val="334155"/>
              </a:solidFill>
              <a:latin typeface="Inter"/>
              <a:ea typeface="Inter"/>
              <a:cs typeface="Inter"/>
              <a:sym typeface="Inter"/>
            </a:endParaRPr>
          </a:p>
        </p:txBody>
      </p:sp>
      <p:sp>
        <p:nvSpPr>
          <p:cNvPr id="195" name="Google Shape;195;p21"/>
          <p:cNvSpPr/>
          <p:nvPr/>
        </p:nvSpPr>
        <p:spPr>
          <a:xfrm>
            <a:off x="806250" y="946988"/>
            <a:ext cx="28830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6" name="Google Shape;196;p21"/>
          <p:cNvSpPr txBox="1"/>
          <p:nvPr/>
        </p:nvSpPr>
        <p:spPr>
          <a:xfrm>
            <a:off x="863425" y="1046000"/>
            <a:ext cx="28257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rPr lang="en-US" sz="2100">
                <a:solidFill>
                  <a:srgbClr val="1E40AF"/>
                </a:solidFill>
                <a:latin typeface="Poppins SemiBold"/>
                <a:ea typeface="Poppins SemiBold"/>
                <a:cs typeface="Poppins SemiBold"/>
                <a:sym typeface="Poppins SemiBold"/>
              </a:rPr>
              <a:t>Plain RGB</a:t>
            </a:r>
            <a:endParaRPr/>
          </a:p>
        </p:txBody>
      </p:sp>
      <p:sp>
        <p:nvSpPr>
          <p:cNvPr id="197" name="Google Shape;197;p21"/>
          <p:cNvSpPr/>
          <p:nvPr/>
        </p:nvSpPr>
        <p:spPr>
          <a:xfrm>
            <a:off x="6073325" y="750750"/>
            <a:ext cx="5286300" cy="5826300"/>
          </a:xfrm>
          <a:prstGeom prst="roundRect">
            <a:avLst>
              <a:gd fmla="val 14629"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 name="Google Shape;198;p21"/>
          <p:cNvSpPr/>
          <p:nvPr/>
        </p:nvSpPr>
        <p:spPr>
          <a:xfrm>
            <a:off x="6474350" y="947000"/>
            <a:ext cx="36873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9" name="Google Shape;199;p21"/>
          <p:cNvSpPr txBox="1"/>
          <p:nvPr/>
        </p:nvSpPr>
        <p:spPr>
          <a:xfrm>
            <a:off x="6531525" y="1039250"/>
            <a:ext cx="36873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rPr lang="en-US" sz="2100">
                <a:solidFill>
                  <a:srgbClr val="1E40AF"/>
                </a:solidFill>
                <a:latin typeface="Poppins SemiBold"/>
                <a:ea typeface="Poppins SemiBold"/>
                <a:cs typeface="Poppins SemiBold"/>
                <a:sym typeface="Poppins SemiBold"/>
              </a:rPr>
              <a:t>RGB trained ResNet on FFT</a:t>
            </a:r>
            <a:endParaRPr/>
          </a:p>
        </p:txBody>
      </p:sp>
      <p:sp>
        <p:nvSpPr>
          <p:cNvPr id="200" name="Google Shape;200;p21"/>
          <p:cNvSpPr txBox="1"/>
          <p:nvPr/>
        </p:nvSpPr>
        <p:spPr>
          <a:xfrm>
            <a:off x="6710675" y="1920800"/>
            <a:ext cx="4392600" cy="3740400"/>
          </a:xfrm>
          <a:prstGeom prst="rect">
            <a:avLst/>
          </a:prstGeom>
          <a:noFill/>
          <a:ln>
            <a:noFill/>
          </a:ln>
        </p:spPr>
        <p:txBody>
          <a:bodyPr anchorCtr="0" anchor="t" bIns="91425" lIns="91425" spcFirstLastPara="1" rIns="91425" wrap="square" tIns="91425">
            <a:spAutoFit/>
          </a:bodyPr>
          <a:lstStyle/>
          <a:p>
            <a:pPr indent="0" lvl="0" marL="0" marR="0" rtl="0" algn="l">
              <a:lnSpc>
                <a:spcPct val="160000"/>
              </a:lnSpc>
              <a:spcBef>
                <a:spcPts val="0"/>
              </a:spcBef>
              <a:spcAft>
                <a:spcPts val="0"/>
              </a:spcAft>
              <a:buClr>
                <a:srgbClr val="000000"/>
              </a:buClr>
              <a:buFont typeface="Arial"/>
              <a:buNone/>
            </a:pPr>
            <a:r>
              <a:rPr lang="en-US" sz="1500">
                <a:solidFill>
                  <a:srgbClr val="334155"/>
                </a:solidFill>
                <a:latin typeface="Inter"/>
                <a:ea typeface="Inter"/>
                <a:cs typeface="Inter"/>
                <a:sym typeface="Inter"/>
              </a:rPr>
              <a:t>The RGB model was fine-tuned to learn natural RGB pixel statistics such as color gradients, textures, and intensity patterns. Since FFT magnitude images have a completely different distribution and spatial structure, the model cannot interpret them effectively. As a result, the learned RGB features produce weak and less meaningful activations on frequency-domain inputs, reducing classification performance. </a:t>
            </a:r>
            <a:endParaRPr sz="1500">
              <a:solidFill>
                <a:srgbClr val="334155"/>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22"/>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2"/>
          <p:cNvSpPr txBox="1"/>
          <p:nvPr/>
        </p:nvSpPr>
        <p:spPr>
          <a:xfrm>
            <a:off x="399900" y="22455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Frequency Domain Analysis (FFT)</a:t>
            </a:r>
            <a:endParaRPr/>
          </a:p>
        </p:txBody>
      </p:sp>
      <p:sp>
        <p:nvSpPr>
          <p:cNvPr id="207" name="Google Shape;207;p22"/>
          <p:cNvSpPr/>
          <p:nvPr/>
        </p:nvSpPr>
        <p:spPr>
          <a:xfrm>
            <a:off x="520925" y="850475"/>
            <a:ext cx="5286300" cy="5826300"/>
          </a:xfrm>
          <a:prstGeom prst="roundRect">
            <a:avLst>
              <a:gd fmla="val 14629"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8" name="Google Shape;208;p22"/>
          <p:cNvSpPr txBox="1"/>
          <p:nvPr/>
        </p:nvSpPr>
        <p:spPr>
          <a:xfrm>
            <a:off x="825125" y="1792225"/>
            <a:ext cx="4677900" cy="3925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FFT converts each frame into its frequency domain representation via FFT, producing a magnitude spectrogram (bright low-frequency center, log-scaled energy values) that's resized,</a:t>
            </a:r>
            <a:endParaRPr sz="1500">
              <a:solidFill>
                <a:srgbClr val="334155"/>
              </a:solidFill>
              <a:latin typeface="Inter"/>
              <a:ea typeface="Inter"/>
              <a:cs typeface="Inter"/>
              <a:sym typeface="Inter"/>
            </a:endParaRPr>
          </a:p>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normalized, and passed through a </a:t>
            </a:r>
            <a:r>
              <a:rPr lang="en-US" sz="1500">
                <a:solidFill>
                  <a:srgbClr val="334155"/>
                </a:solidFill>
                <a:latin typeface="Inter"/>
                <a:ea typeface="Inter"/>
                <a:cs typeface="Inter"/>
                <a:sym typeface="Inter"/>
              </a:rPr>
              <a:t>ResNet 18</a:t>
            </a:r>
            <a:r>
              <a:rPr lang="en-US" sz="1500">
                <a:solidFill>
                  <a:srgbClr val="334155"/>
                </a:solidFill>
                <a:latin typeface="Inter"/>
                <a:ea typeface="Inter"/>
                <a:cs typeface="Inter"/>
                <a:sym typeface="Inter"/>
              </a:rPr>
              <a:t> backbone trained to detect frequency-domain generative artifacts (periodic upsampling patterns, unnatural spectral decay). Each frame yields its own AI/real prediction based purely on these frequency features, with the video's final label decided by majority vote across sampled frames. </a:t>
            </a:r>
            <a:endParaRPr sz="1500">
              <a:solidFill>
                <a:srgbClr val="334155"/>
              </a:solidFill>
              <a:latin typeface="Inter"/>
              <a:ea typeface="Inter"/>
              <a:cs typeface="Inter"/>
              <a:sym typeface="Inter"/>
            </a:endParaRPr>
          </a:p>
        </p:txBody>
      </p:sp>
      <p:sp>
        <p:nvSpPr>
          <p:cNvPr id="209" name="Google Shape;209;p22"/>
          <p:cNvSpPr/>
          <p:nvPr/>
        </p:nvSpPr>
        <p:spPr>
          <a:xfrm>
            <a:off x="993475" y="1046713"/>
            <a:ext cx="28830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0" name="Google Shape;210;p22"/>
          <p:cNvSpPr txBox="1"/>
          <p:nvPr/>
        </p:nvSpPr>
        <p:spPr>
          <a:xfrm>
            <a:off x="1050650" y="1145725"/>
            <a:ext cx="28257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1E40AF"/>
                </a:solidFill>
                <a:latin typeface="Poppins SemiBold"/>
                <a:ea typeface="Poppins SemiBold"/>
                <a:cs typeface="Poppins SemiBold"/>
                <a:sym typeface="Poppins SemiBold"/>
              </a:rPr>
              <a:t>Plain FFT</a:t>
            </a:r>
            <a:endParaRPr/>
          </a:p>
        </p:txBody>
      </p:sp>
      <p:sp>
        <p:nvSpPr>
          <p:cNvPr id="211" name="Google Shape;211;p22"/>
          <p:cNvSpPr/>
          <p:nvPr/>
        </p:nvSpPr>
        <p:spPr>
          <a:xfrm>
            <a:off x="6404725" y="850475"/>
            <a:ext cx="5286300" cy="5826300"/>
          </a:xfrm>
          <a:prstGeom prst="roundRect">
            <a:avLst>
              <a:gd fmla="val 14629"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2" name="Google Shape;212;p22"/>
          <p:cNvSpPr txBox="1"/>
          <p:nvPr/>
        </p:nvSpPr>
        <p:spPr>
          <a:xfrm>
            <a:off x="6708925" y="1792225"/>
            <a:ext cx="4677900" cy="3555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The FFT model's layers were fine-tuned on frequency-domain statistics a bright low-frequency center, log-scaled energy values, and frequency bins instead of pixels. Raw RGB frames carry natural color gradients and pixel intensities roughly in [0,1], a completely different distribution. Feeding RGB into an FFT-trained model means asking it to interpret data it's never seen the filters, tuned for frequency patterns, produce close to meaningless activations on RGB input. </a:t>
            </a:r>
            <a:endParaRPr sz="1500">
              <a:solidFill>
                <a:srgbClr val="334155"/>
              </a:solidFill>
              <a:latin typeface="Inter"/>
              <a:ea typeface="Inter"/>
              <a:cs typeface="Inter"/>
              <a:sym typeface="Inter"/>
            </a:endParaRPr>
          </a:p>
        </p:txBody>
      </p:sp>
      <p:sp>
        <p:nvSpPr>
          <p:cNvPr id="213" name="Google Shape;213;p22"/>
          <p:cNvSpPr/>
          <p:nvPr/>
        </p:nvSpPr>
        <p:spPr>
          <a:xfrm>
            <a:off x="6795175" y="1046725"/>
            <a:ext cx="37527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4" name="Google Shape;214;p22"/>
          <p:cNvSpPr txBox="1"/>
          <p:nvPr/>
        </p:nvSpPr>
        <p:spPr>
          <a:xfrm>
            <a:off x="6852350" y="1145725"/>
            <a:ext cx="37527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1E40AF"/>
                </a:solidFill>
                <a:latin typeface="Poppins SemiBold"/>
                <a:ea typeface="Poppins SemiBold"/>
                <a:cs typeface="Poppins SemiBold"/>
                <a:sym typeface="Poppins SemiBold"/>
              </a:rPr>
              <a:t>FFT</a:t>
            </a:r>
            <a:r>
              <a:rPr lang="en-US" sz="2100">
                <a:solidFill>
                  <a:srgbClr val="1E40AF"/>
                </a:solidFill>
                <a:latin typeface="Poppins SemiBold"/>
                <a:ea typeface="Poppins SemiBold"/>
                <a:cs typeface="Poppins SemiBold"/>
                <a:sym typeface="Poppins SemiBold"/>
              </a:rPr>
              <a:t> trained ResNet on RGB</a:t>
            </a:r>
            <a:endParaRPr>
              <a:solidFill>
                <a:schemeClr val="dk1"/>
              </a:solidFill>
            </a:endParaRPr>
          </a:p>
          <a:p>
            <a:pPr indent="0" lvl="0" marL="0" marR="0" rtl="0" algn="l">
              <a:spcBef>
                <a:spcPts val="0"/>
              </a:spcBef>
              <a:spcAft>
                <a:spcPts val="0"/>
              </a:spcAft>
              <a:buNone/>
            </a:pPr>
            <a:r>
              <a:t/>
            </a:r>
            <a:endParaRPr b="1" sz="2100">
              <a:solidFill>
                <a:srgbClr val="1E40AF"/>
              </a:solidFill>
              <a:latin typeface="Poppins"/>
              <a:ea typeface="Poppins"/>
              <a:cs typeface="Poppins"/>
              <a:sym typeface="Poppins"/>
            </a:endParaRPr>
          </a:p>
        </p:txBody>
      </p:sp>
      <p:pic>
        <p:nvPicPr>
          <p:cNvPr descr="image.png" id="215" name="Google Shape;215;p22"/>
          <p:cNvPicPr preferRelativeResize="0"/>
          <p:nvPr/>
        </p:nvPicPr>
        <p:blipFill rotWithShape="1">
          <a:blip r:embed="rId3">
            <a:alphaModFix/>
          </a:blip>
          <a:srcRect b="0" l="0" r="0" t="0"/>
          <a:stretch/>
        </p:blipFill>
        <p:spPr>
          <a:xfrm>
            <a:off x="6795173" y="5798625"/>
            <a:ext cx="4254103" cy="54649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23"/>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3"/>
          <p:cNvSpPr txBox="1"/>
          <p:nvPr/>
        </p:nvSpPr>
        <p:spPr>
          <a:xfrm>
            <a:off x="295200" y="232488"/>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Fusion Architecture (Dual Branch)</a:t>
            </a:r>
            <a:endParaRPr/>
          </a:p>
        </p:txBody>
      </p:sp>
      <p:sp>
        <p:nvSpPr>
          <p:cNvPr id="222" name="Google Shape;222;p23"/>
          <p:cNvSpPr/>
          <p:nvPr/>
        </p:nvSpPr>
        <p:spPr>
          <a:xfrm>
            <a:off x="520925" y="850475"/>
            <a:ext cx="5286300" cy="5826300"/>
          </a:xfrm>
          <a:prstGeom prst="roundRect">
            <a:avLst>
              <a:gd fmla="val 14629"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3" name="Google Shape;223;p23"/>
          <p:cNvSpPr txBox="1"/>
          <p:nvPr/>
        </p:nvSpPr>
        <p:spPr>
          <a:xfrm>
            <a:off x="906875" y="2020650"/>
            <a:ext cx="4677900" cy="2816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RGB and FFT magnitude images are combined into a single 3-channel image using a fixed 50:50 blending ratio before being passed through a ResNet-18 model. This allows the network to learn from both spatial textures and frequency patterns simultaneously. Frame-level predictions are combined using majority voting to produce the final video classification. </a:t>
            </a:r>
            <a:endParaRPr sz="1500">
              <a:solidFill>
                <a:srgbClr val="334155"/>
              </a:solidFill>
              <a:latin typeface="Inter"/>
              <a:ea typeface="Inter"/>
              <a:cs typeface="Inter"/>
              <a:sym typeface="Inter"/>
            </a:endParaRPr>
          </a:p>
        </p:txBody>
      </p:sp>
      <p:sp>
        <p:nvSpPr>
          <p:cNvPr id="224" name="Google Shape;224;p23"/>
          <p:cNvSpPr/>
          <p:nvPr/>
        </p:nvSpPr>
        <p:spPr>
          <a:xfrm>
            <a:off x="993475" y="1046725"/>
            <a:ext cx="36186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5" name="Google Shape;225;p23"/>
          <p:cNvSpPr txBox="1"/>
          <p:nvPr/>
        </p:nvSpPr>
        <p:spPr>
          <a:xfrm>
            <a:off x="1050650" y="1145725"/>
            <a:ext cx="3618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1E40AF"/>
                </a:solidFill>
                <a:latin typeface="Poppins SemiBold"/>
                <a:ea typeface="Poppins SemiBold"/>
                <a:cs typeface="Poppins SemiBold"/>
                <a:sym typeface="Poppins SemiBold"/>
              </a:rPr>
              <a:t>RGB + FFT Blend (⍺ = 0.5)</a:t>
            </a:r>
            <a:endParaRPr/>
          </a:p>
        </p:txBody>
      </p:sp>
      <p:sp>
        <p:nvSpPr>
          <p:cNvPr id="226" name="Google Shape;226;p23"/>
          <p:cNvSpPr/>
          <p:nvPr/>
        </p:nvSpPr>
        <p:spPr>
          <a:xfrm>
            <a:off x="6404725" y="850475"/>
            <a:ext cx="5286300" cy="5826300"/>
          </a:xfrm>
          <a:prstGeom prst="roundRect">
            <a:avLst>
              <a:gd fmla="val 14629"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7" name="Google Shape;227;p23"/>
          <p:cNvSpPr txBox="1"/>
          <p:nvPr/>
        </p:nvSpPr>
        <p:spPr>
          <a:xfrm>
            <a:off x="6795175" y="1906850"/>
            <a:ext cx="4677900" cy="4294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Font typeface="Arial"/>
              <a:buNone/>
            </a:pPr>
            <a:r>
              <a:rPr lang="en-US" sz="1500">
                <a:solidFill>
                  <a:srgbClr val="334155"/>
                </a:solidFill>
                <a:latin typeface="Inter"/>
                <a:ea typeface="Inter"/>
                <a:cs typeface="Inter"/>
                <a:sym typeface="Inter"/>
              </a:rPr>
              <a:t>Instead of blending inputs, the Fusion model processes RGB and FFT images independently using two parallel ResNet-18 backbones. Each branch extracts a 512-dimensional feature vector, which are concatenated into a 1024-dimensional representation and classified using a custom MLP. This feature-level fusion preserves spatial and frequency information, enabling the model to learn complementary patterns more effectively before majority voting determines the final video-level prediction.</a:t>
            </a:r>
            <a:endParaRPr sz="1500">
              <a:solidFill>
                <a:srgbClr val="334155"/>
              </a:solidFill>
              <a:latin typeface="Inter"/>
              <a:ea typeface="Inter"/>
              <a:cs typeface="Inter"/>
              <a:sym typeface="Inter"/>
            </a:endParaRPr>
          </a:p>
          <a:p>
            <a:pPr indent="0" lvl="0" marL="0" marR="0" rtl="0" algn="l">
              <a:lnSpc>
                <a:spcPct val="160000"/>
              </a:lnSpc>
              <a:spcBef>
                <a:spcPts val="0"/>
              </a:spcBef>
              <a:spcAft>
                <a:spcPts val="0"/>
              </a:spcAft>
              <a:buNone/>
            </a:pPr>
            <a:r>
              <a:t/>
            </a:r>
            <a:endParaRPr sz="1500">
              <a:solidFill>
                <a:srgbClr val="334155"/>
              </a:solidFill>
              <a:latin typeface="Inter"/>
              <a:ea typeface="Inter"/>
              <a:cs typeface="Inter"/>
              <a:sym typeface="Inter"/>
            </a:endParaRPr>
          </a:p>
        </p:txBody>
      </p:sp>
      <p:sp>
        <p:nvSpPr>
          <p:cNvPr id="228" name="Google Shape;228;p23"/>
          <p:cNvSpPr/>
          <p:nvPr/>
        </p:nvSpPr>
        <p:spPr>
          <a:xfrm>
            <a:off x="6795175" y="1046725"/>
            <a:ext cx="4007700" cy="507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9" name="Google Shape;229;p23"/>
          <p:cNvSpPr txBox="1"/>
          <p:nvPr/>
        </p:nvSpPr>
        <p:spPr>
          <a:xfrm>
            <a:off x="6852350" y="1145725"/>
            <a:ext cx="42681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1E40AF"/>
                </a:solidFill>
                <a:latin typeface="Poppins SemiBold"/>
                <a:ea typeface="Poppins SemiBold"/>
                <a:cs typeface="Poppins SemiBold"/>
                <a:sym typeface="Poppins SemiBold"/>
              </a:rPr>
              <a:t>Fusion Model (Dual-Branch) </a:t>
            </a:r>
            <a:endParaRPr b="1" sz="2100">
              <a:solidFill>
                <a:srgbClr val="1E40AF"/>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4"/>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24"/>
          <p:cNvSpPr txBox="1"/>
          <p:nvPr/>
        </p:nvSpPr>
        <p:spPr>
          <a:xfrm>
            <a:off x="571500" y="55245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Results and Findings</a:t>
            </a:r>
            <a:endParaRPr/>
          </a:p>
        </p:txBody>
      </p:sp>
      <p:sp>
        <p:nvSpPr>
          <p:cNvPr id="236" name="Google Shape;236;p24"/>
          <p:cNvSpPr/>
          <p:nvPr/>
        </p:nvSpPr>
        <p:spPr>
          <a:xfrm>
            <a:off x="571500" y="2375594"/>
            <a:ext cx="11049000" cy="2497335"/>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37" name="Google Shape;237;p24"/>
          <p:cNvGraphicFramePr/>
          <p:nvPr/>
        </p:nvGraphicFramePr>
        <p:xfrm>
          <a:off x="571500" y="2375594"/>
          <a:ext cx="3000000" cy="3000000"/>
        </p:xfrm>
        <a:graphic>
          <a:graphicData uri="http://schemas.openxmlformats.org/drawingml/2006/table">
            <a:tbl>
              <a:tblPr bandRow="1" firstRow="1">
                <a:noFill/>
                <a:tableStyleId>{7E9A1329-7BCA-45B0-9E42-DC8C53F6AC08}</a:tableStyleId>
              </a:tblPr>
              <a:tblGrid>
                <a:gridCol w="2716850"/>
                <a:gridCol w="2141475"/>
                <a:gridCol w="2088200"/>
                <a:gridCol w="2077650"/>
                <a:gridCol w="2024800"/>
              </a:tblGrid>
              <a:tr h="624325">
                <a:tc>
                  <a:txBody>
                    <a:bodyPr/>
                    <a:lstStyle/>
                    <a:p>
                      <a:pPr indent="0" lvl="0" marL="0" marR="0" rtl="0" algn="ctr">
                        <a:spcBef>
                          <a:spcPts val="0"/>
                        </a:spcBef>
                        <a:spcAft>
                          <a:spcPts val="0"/>
                        </a:spcAft>
                        <a:buNone/>
                      </a:pPr>
                      <a:r>
                        <a:rPr b="0" i="0" lang="en-US" sz="1350" u="none" cap="none" strike="noStrike">
                          <a:solidFill>
                            <a:srgbClr val="FFFFFF"/>
                          </a:solidFill>
                          <a:latin typeface="Poppins SemiBold"/>
                          <a:ea typeface="Poppins SemiBold"/>
                          <a:cs typeface="Poppins SemiBold"/>
                          <a:sym typeface="Poppins SemiBold"/>
                        </a:rPr>
                        <a:t>Model Approach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0" i="0" lang="en-US" sz="1350" u="none" cap="none" strike="noStrike">
                          <a:solidFill>
                            <a:srgbClr val="FFFFFF"/>
                          </a:solidFill>
                          <a:latin typeface="Poppins SemiBold"/>
                          <a:ea typeface="Poppins SemiBold"/>
                          <a:cs typeface="Poppins SemiBold"/>
                          <a:sym typeface="Poppins SemiBold"/>
                        </a:rPr>
                        <a:t>Frame Accuracy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0" i="0" lang="en-US" sz="1350" u="none" cap="none" strike="noStrike">
                          <a:solidFill>
                            <a:srgbClr val="FFFFFF"/>
                          </a:solidFill>
                          <a:latin typeface="Poppins SemiBold"/>
                          <a:ea typeface="Poppins SemiBold"/>
                          <a:cs typeface="Poppins SemiBold"/>
                          <a:sym typeface="Poppins SemiBold"/>
                        </a:rPr>
                        <a:t>Frame Precision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0" i="0" lang="en-US" sz="1350" u="none" cap="none" strike="noStrike">
                          <a:solidFill>
                            <a:srgbClr val="FFFFFF"/>
                          </a:solidFill>
                          <a:latin typeface="Poppins SemiBold"/>
                          <a:ea typeface="Poppins SemiBold"/>
                          <a:cs typeface="Poppins SemiBold"/>
                          <a:sym typeface="Poppins SemiBold"/>
                        </a:rPr>
                        <a:t>Video Accuracy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c>
                  <a:txBody>
                    <a:bodyPr/>
                    <a:lstStyle/>
                    <a:p>
                      <a:pPr indent="0" lvl="0" marL="0" marR="0" rtl="0" algn="ctr">
                        <a:spcBef>
                          <a:spcPts val="0"/>
                        </a:spcBef>
                        <a:spcAft>
                          <a:spcPts val="0"/>
                        </a:spcAft>
                        <a:buNone/>
                      </a:pPr>
                      <a:r>
                        <a:rPr b="0" i="0" lang="en-US" sz="1350" u="none" cap="none" strike="noStrike">
                          <a:solidFill>
                            <a:srgbClr val="FFFFFF"/>
                          </a:solidFill>
                          <a:latin typeface="Poppins SemiBold"/>
                          <a:ea typeface="Poppins SemiBold"/>
                          <a:cs typeface="Poppins SemiBold"/>
                          <a:sym typeface="Poppins SemiBold"/>
                        </a:rPr>
                        <a:t>Video Precision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3A8A"/>
                    </a:solidFill>
                  </a:tcPr>
                </a:tc>
              </a:tr>
              <a:tr h="624325">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Plain RGB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8</a:t>
                      </a:r>
                      <a:r>
                        <a:rPr lang="en-US" sz="1350">
                          <a:solidFill>
                            <a:srgbClr val="334155"/>
                          </a:solidFill>
                          <a:latin typeface="Inter"/>
                          <a:ea typeface="Inter"/>
                          <a:cs typeface="Inter"/>
                          <a:sym typeface="Inter"/>
                        </a:rPr>
                        <a:t>3</a:t>
                      </a:r>
                      <a:r>
                        <a:rPr b="0" i="0" lang="en-US" sz="1350" u="none" cap="none" strike="noStrike">
                          <a:solidFill>
                            <a:srgbClr val="334155"/>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8</a:t>
                      </a:r>
                      <a:r>
                        <a:rPr lang="en-US" sz="1350">
                          <a:solidFill>
                            <a:srgbClr val="334155"/>
                          </a:solidFill>
                          <a:latin typeface="Inter"/>
                          <a:ea typeface="Inter"/>
                          <a:cs typeface="Inter"/>
                          <a:sym typeface="Inter"/>
                        </a:rPr>
                        <a:t>4</a:t>
                      </a:r>
                      <a:r>
                        <a:rPr b="0" i="0" lang="en-US" sz="1350" u="none" cap="none" strike="noStrike">
                          <a:solidFill>
                            <a:srgbClr val="334155"/>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1350">
                          <a:solidFill>
                            <a:srgbClr val="334155"/>
                          </a:solidFill>
                          <a:latin typeface="Inter"/>
                          <a:ea typeface="Inter"/>
                          <a:cs typeface="Inter"/>
                          <a:sym typeface="Inter"/>
                        </a:rPr>
                        <a:t>87</a:t>
                      </a:r>
                      <a:r>
                        <a:rPr b="0" i="0" lang="en-US" sz="1350" u="none" cap="none" strike="noStrike">
                          <a:solidFill>
                            <a:srgbClr val="334155"/>
                          </a:solidFill>
                          <a:latin typeface="Inter"/>
                          <a:ea typeface="Inter"/>
                          <a:cs typeface="Inter"/>
                          <a:sym typeface="Inter"/>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1350">
                          <a:solidFill>
                            <a:srgbClr val="334155"/>
                          </a:solidFill>
                          <a:latin typeface="Inter"/>
                          <a:ea typeface="Inter"/>
                          <a:cs typeface="Inter"/>
                          <a:sym typeface="Inter"/>
                        </a:rPr>
                        <a:t>87</a:t>
                      </a:r>
                      <a:r>
                        <a:rPr b="0" i="0" lang="en-US" sz="1350" u="none" cap="none" strike="noStrike">
                          <a:solidFill>
                            <a:srgbClr val="334155"/>
                          </a:solidFill>
                          <a:latin typeface="Inter"/>
                          <a:ea typeface="Inter"/>
                          <a:cs typeface="Inter"/>
                          <a:sym typeface="Inter"/>
                        </a:rPr>
                        <a:t>.</a:t>
                      </a:r>
                      <a:r>
                        <a:rPr lang="en-US" sz="1350">
                          <a:solidFill>
                            <a:srgbClr val="334155"/>
                          </a:solidFill>
                          <a:latin typeface="Inter"/>
                          <a:ea typeface="Inter"/>
                          <a:cs typeface="Inter"/>
                          <a:sym typeface="Inter"/>
                        </a:rPr>
                        <a:t>00</a:t>
                      </a:r>
                      <a:r>
                        <a:rPr b="0" i="0" lang="en-US" sz="1350" u="none" cap="none" strike="noStrike">
                          <a:solidFill>
                            <a:srgbClr val="334155"/>
                          </a:solidFill>
                          <a:latin typeface="Inter"/>
                          <a:ea typeface="Inter"/>
                          <a:cs typeface="Inter"/>
                          <a:sym typeface="Inter"/>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24325">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RGB+FFT Blend (α=0.5)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8</a:t>
                      </a:r>
                      <a:r>
                        <a:rPr lang="en-US" sz="1350">
                          <a:solidFill>
                            <a:srgbClr val="334155"/>
                          </a:solidFill>
                          <a:latin typeface="Inter"/>
                          <a:ea typeface="Inter"/>
                          <a:cs typeface="Inter"/>
                          <a:sym typeface="Inter"/>
                        </a:rPr>
                        <a:t>7.85</a:t>
                      </a:r>
                      <a:r>
                        <a:rPr b="0" i="0" lang="en-US" sz="1350" u="none" cap="none" strike="noStrike">
                          <a:solidFill>
                            <a:srgbClr val="334155"/>
                          </a:solidFill>
                          <a:latin typeface="Inter"/>
                          <a:ea typeface="Inter"/>
                          <a:cs typeface="Inter"/>
                          <a:sym typeface="Inter"/>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89.00%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9</a:t>
                      </a:r>
                      <a:r>
                        <a:rPr lang="en-US" sz="1350">
                          <a:solidFill>
                            <a:srgbClr val="334155"/>
                          </a:solidFill>
                          <a:latin typeface="Inter"/>
                          <a:ea typeface="Inter"/>
                          <a:cs typeface="Inter"/>
                          <a:sym typeface="Inter"/>
                        </a:rPr>
                        <a:t>0</a:t>
                      </a:r>
                      <a:r>
                        <a:rPr b="0" i="0" lang="en-US" sz="1350" u="none" cap="none" strike="noStrike">
                          <a:solidFill>
                            <a:srgbClr val="334155"/>
                          </a:solidFill>
                          <a:latin typeface="Inter"/>
                          <a:ea typeface="Inter"/>
                          <a:cs typeface="Inter"/>
                          <a:sym typeface="Inter"/>
                        </a:rPr>
                        <a:t>.</a:t>
                      </a:r>
                      <a:r>
                        <a:rPr lang="en-US" sz="1350">
                          <a:solidFill>
                            <a:srgbClr val="334155"/>
                          </a:solidFill>
                          <a:latin typeface="Inter"/>
                          <a:ea typeface="Inter"/>
                          <a:cs typeface="Inter"/>
                          <a:sym typeface="Inter"/>
                        </a:rPr>
                        <a:t>00</a:t>
                      </a:r>
                      <a:r>
                        <a:rPr b="0" i="0" lang="en-US" sz="1350" u="none" cap="none" strike="noStrike">
                          <a:solidFill>
                            <a:srgbClr val="334155"/>
                          </a:solidFill>
                          <a:latin typeface="Inter"/>
                          <a:ea typeface="Inter"/>
                          <a:cs typeface="Inter"/>
                          <a:sym typeface="Inter"/>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93.33%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24325">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RGB+FFT Fusion (MLP)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88.79%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1350">
                          <a:solidFill>
                            <a:srgbClr val="334155"/>
                          </a:solidFill>
                          <a:latin typeface="Inter"/>
                          <a:ea typeface="Inter"/>
                          <a:cs typeface="Inter"/>
                          <a:sym typeface="Inter"/>
                        </a:rPr>
                        <a:t>89</a:t>
                      </a:r>
                      <a:r>
                        <a:rPr b="0" i="0" lang="en-US" sz="1350" u="none" cap="none" strike="noStrike">
                          <a:solidFill>
                            <a:srgbClr val="334155"/>
                          </a:solidFill>
                          <a:latin typeface="Inter"/>
                          <a:ea typeface="Inter"/>
                          <a:cs typeface="Inter"/>
                          <a:sym typeface="Inter"/>
                        </a:rPr>
                        <a:t>.</a:t>
                      </a:r>
                      <a:r>
                        <a:rPr lang="en-US" sz="1350">
                          <a:solidFill>
                            <a:srgbClr val="334155"/>
                          </a:solidFill>
                          <a:latin typeface="Inter"/>
                          <a:ea typeface="Inter"/>
                          <a:cs typeface="Inter"/>
                          <a:sym typeface="Inter"/>
                        </a:rPr>
                        <a:t>2</a:t>
                      </a:r>
                      <a:r>
                        <a:rPr b="0" i="0" lang="en-US" sz="1350" u="none" cap="none" strike="noStrike">
                          <a:solidFill>
                            <a:srgbClr val="334155"/>
                          </a:solidFill>
                          <a:latin typeface="Inter"/>
                          <a:ea typeface="Inter"/>
                          <a:cs typeface="Inter"/>
                          <a:sym typeface="Inter"/>
                        </a:rPr>
                        <a:t>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90.00%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1350" u="none" cap="none" strike="noStrike">
                          <a:solidFill>
                            <a:srgbClr val="334155"/>
                          </a:solidFill>
                          <a:latin typeface="Inter"/>
                          <a:ea typeface="Inter"/>
                          <a:cs typeface="Inter"/>
                          <a:sym typeface="Inter"/>
                        </a:rPr>
                        <a:t>9</a:t>
                      </a:r>
                      <a:r>
                        <a:rPr lang="en-US" sz="1350">
                          <a:solidFill>
                            <a:srgbClr val="334155"/>
                          </a:solidFill>
                          <a:latin typeface="Inter"/>
                          <a:ea typeface="Inter"/>
                          <a:cs typeface="Inter"/>
                          <a:sym typeface="Inter"/>
                        </a:rPr>
                        <a:t>0</a:t>
                      </a:r>
                      <a:r>
                        <a:rPr b="0" i="0" lang="en-US" sz="1350" u="none" cap="none" strike="noStrike">
                          <a:solidFill>
                            <a:srgbClr val="334155"/>
                          </a:solidFill>
                          <a:latin typeface="Inter"/>
                          <a:ea typeface="Inter"/>
                          <a:cs typeface="Inter"/>
                          <a:sym typeface="Inter"/>
                        </a:rPr>
                        <a:t>.1</a:t>
                      </a:r>
                      <a:r>
                        <a:rPr lang="en-US" sz="1350">
                          <a:solidFill>
                            <a:srgbClr val="334155"/>
                          </a:solidFill>
                          <a:latin typeface="Inter"/>
                          <a:ea typeface="Inter"/>
                          <a:cs typeface="Inter"/>
                          <a:sym typeface="Inter"/>
                        </a:rPr>
                        <a:t>8</a:t>
                      </a:r>
                      <a:r>
                        <a:rPr b="0" i="0" lang="en-US" sz="1350" u="none" cap="none" strike="noStrike">
                          <a:solidFill>
                            <a:srgbClr val="334155"/>
                          </a:solidFill>
                          <a:latin typeface="Inter"/>
                          <a:ea typeface="Inter"/>
                          <a:cs typeface="Inter"/>
                          <a:sym typeface="Inter"/>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38" name="Google Shape;238;p24"/>
          <p:cNvSpPr txBox="1"/>
          <p:nvPr/>
        </p:nvSpPr>
        <p:spPr>
          <a:xfrm>
            <a:off x="571500" y="5111055"/>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500" u="none" cap="none" strike="noStrike">
                <a:solidFill>
                  <a:srgbClr val="334155"/>
                </a:solidFill>
                <a:latin typeface="Inter"/>
                <a:ea typeface="Inter"/>
                <a:cs typeface="Inter"/>
                <a:sym typeface="Inter"/>
              </a:rPr>
              <a:t>Note: Video-level predictions are derived by applying majority voting across all 25 frames.</a:t>
            </a:r>
            <a:endParaRPr/>
          </a:p>
        </p:txBody>
      </p:sp>
      <p:sp>
        <p:nvSpPr>
          <p:cNvPr id="239" name="Google Shape;239;p24"/>
          <p:cNvSpPr/>
          <p:nvPr/>
        </p:nvSpPr>
        <p:spPr>
          <a:xfrm>
            <a:off x="571500" y="2988022"/>
            <a:ext cx="27168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4"/>
          <p:cNvSpPr/>
          <p:nvPr/>
        </p:nvSpPr>
        <p:spPr>
          <a:xfrm>
            <a:off x="3288357" y="2988022"/>
            <a:ext cx="2141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4"/>
          <p:cNvSpPr/>
          <p:nvPr/>
        </p:nvSpPr>
        <p:spPr>
          <a:xfrm>
            <a:off x="5429845" y="2988022"/>
            <a:ext cx="208820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24"/>
          <p:cNvSpPr/>
          <p:nvPr/>
        </p:nvSpPr>
        <p:spPr>
          <a:xfrm>
            <a:off x="7518052" y="2988022"/>
            <a:ext cx="207764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4"/>
          <p:cNvSpPr/>
          <p:nvPr/>
        </p:nvSpPr>
        <p:spPr>
          <a:xfrm>
            <a:off x="9595693" y="2988022"/>
            <a:ext cx="202480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4"/>
          <p:cNvSpPr/>
          <p:nvPr/>
        </p:nvSpPr>
        <p:spPr>
          <a:xfrm>
            <a:off x="571500" y="3614737"/>
            <a:ext cx="27168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4"/>
          <p:cNvSpPr/>
          <p:nvPr/>
        </p:nvSpPr>
        <p:spPr>
          <a:xfrm>
            <a:off x="3288357" y="3614737"/>
            <a:ext cx="2141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4"/>
          <p:cNvSpPr/>
          <p:nvPr/>
        </p:nvSpPr>
        <p:spPr>
          <a:xfrm>
            <a:off x="5429845" y="3614737"/>
            <a:ext cx="208820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24"/>
          <p:cNvSpPr/>
          <p:nvPr/>
        </p:nvSpPr>
        <p:spPr>
          <a:xfrm>
            <a:off x="7518052" y="3614737"/>
            <a:ext cx="207764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4"/>
          <p:cNvSpPr/>
          <p:nvPr/>
        </p:nvSpPr>
        <p:spPr>
          <a:xfrm>
            <a:off x="9595693" y="3614737"/>
            <a:ext cx="202480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4"/>
          <p:cNvSpPr/>
          <p:nvPr/>
        </p:nvSpPr>
        <p:spPr>
          <a:xfrm>
            <a:off x="571500" y="4241452"/>
            <a:ext cx="271685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4"/>
          <p:cNvSpPr/>
          <p:nvPr/>
        </p:nvSpPr>
        <p:spPr>
          <a:xfrm>
            <a:off x="3288357" y="4241452"/>
            <a:ext cx="21414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4"/>
          <p:cNvSpPr/>
          <p:nvPr/>
        </p:nvSpPr>
        <p:spPr>
          <a:xfrm>
            <a:off x="5429845" y="4241452"/>
            <a:ext cx="208820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4"/>
          <p:cNvSpPr/>
          <p:nvPr/>
        </p:nvSpPr>
        <p:spPr>
          <a:xfrm>
            <a:off x="7518052" y="4241452"/>
            <a:ext cx="207764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4"/>
          <p:cNvSpPr/>
          <p:nvPr/>
        </p:nvSpPr>
        <p:spPr>
          <a:xfrm>
            <a:off x="9595693" y="4241452"/>
            <a:ext cx="202480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25"/>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5"/>
          <p:cNvSpPr txBox="1"/>
          <p:nvPr/>
        </p:nvSpPr>
        <p:spPr>
          <a:xfrm>
            <a:off x="571500" y="55245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Comparative Analysis &amp; Majority Voting</a:t>
            </a:r>
            <a:endParaRPr/>
          </a:p>
        </p:txBody>
      </p:sp>
      <p:sp>
        <p:nvSpPr>
          <p:cNvPr id="260" name="Google Shape;260;p25"/>
          <p:cNvSpPr txBox="1"/>
          <p:nvPr/>
        </p:nvSpPr>
        <p:spPr>
          <a:xfrm>
            <a:off x="781763" y="1203575"/>
            <a:ext cx="96054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500">
                <a:solidFill>
                  <a:srgbClr val="334155"/>
                </a:solidFill>
                <a:latin typeface="Inter"/>
                <a:ea typeface="Inter"/>
                <a:cs typeface="Inter"/>
                <a:sym typeface="Inter"/>
              </a:rPr>
              <a:t>Spectral Integration Enhances Detection:</a:t>
            </a:r>
            <a:r>
              <a:rPr lang="en-US" sz="1500">
                <a:solidFill>
                  <a:srgbClr val="334155"/>
                </a:solidFill>
                <a:latin typeface="Inter"/>
                <a:ea typeface="Inter"/>
                <a:cs typeface="Inter"/>
                <a:sym typeface="Inter"/>
              </a:rPr>
              <a:t> Relying solely on spatial data (Plain RGB) is less effective than incorporating frequency domain (FFT) information. By analyzing both spatial features (like color and texture) and spectral cues, models gain access to complementary data, significantly improving their ability to detect subtle artifacts common in AI-generated content.</a:t>
            </a:r>
            <a:endParaRPr/>
          </a:p>
        </p:txBody>
      </p:sp>
      <p:sp>
        <p:nvSpPr>
          <p:cNvPr id="261" name="Google Shape;261;p25"/>
          <p:cNvSpPr txBox="1"/>
          <p:nvPr/>
        </p:nvSpPr>
        <p:spPr>
          <a:xfrm flipH="1">
            <a:off x="781763" y="2724363"/>
            <a:ext cx="9457800" cy="3555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500">
                <a:solidFill>
                  <a:srgbClr val="334155"/>
                </a:solidFill>
                <a:latin typeface="Inter"/>
                <a:ea typeface="Inter"/>
                <a:cs typeface="Inter"/>
                <a:sym typeface="Inter"/>
              </a:rPr>
              <a:t>Adaptive Fusion:</a:t>
            </a:r>
            <a:r>
              <a:rPr lang="en-US"/>
              <a:t> </a:t>
            </a:r>
            <a:r>
              <a:rPr lang="en-US" sz="1500">
                <a:solidFill>
                  <a:srgbClr val="334155"/>
                </a:solidFill>
                <a:latin typeface="Inter"/>
                <a:ea typeface="Inter"/>
                <a:cs typeface="Inter"/>
                <a:sym typeface="Inter"/>
              </a:rPr>
              <a:t>While the RGB+FFT Blend approach improves accuracy using a fixed weight </a:t>
            </a:r>
            <a:endParaRPr sz="1500">
              <a:solidFill>
                <a:srgbClr val="334155"/>
              </a:solidFill>
              <a:latin typeface="Inter"/>
              <a:ea typeface="Inter"/>
              <a:cs typeface="Inter"/>
              <a:sym typeface="Inter"/>
            </a:endParaRPr>
          </a:p>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(α  =0.5) for both domains, the RGB+FFT Fusion model achieves the highest performance by dynamically learning the optimal interaction between features. This adaptive mechanism evaluates each input uniquely, emphasizing the most discriminative spatial and spectral patterns while suppressing less relevant data</a:t>
            </a:r>
            <a:endParaRPr sz="1500">
              <a:solidFill>
                <a:srgbClr val="334155"/>
              </a:solidFill>
              <a:latin typeface="Inter"/>
              <a:ea typeface="Inter"/>
              <a:cs typeface="Inter"/>
              <a:sym typeface="Inter"/>
            </a:endParaRPr>
          </a:p>
          <a:p>
            <a:pPr indent="0" lvl="0" marL="0" marR="0" rtl="0" algn="l">
              <a:lnSpc>
                <a:spcPct val="160000"/>
              </a:lnSpc>
              <a:spcBef>
                <a:spcPts val="0"/>
              </a:spcBef>
              <a:spcAft>
                <a:spcPts val="0"/>
              </a:spcAft>
              <a:buNone/>
            </a:pPr>
            <a:r>
              <a:rPr b="1" lang="en-US" sz="1500">
                <a:solidFill>
                  <a:srgbClr val="334155"/>
                </a:solidFill>
                <a:latin typeface="Inter"/>
                <a:ea typeface="Inter"/>
                <a:cs typeface="Inter"/>
                <a:sym typeface="Inter"/>
              </a:rPr>
              <a:t>Majority Voting Maximizes Robustness :</a:t>
            </a:r>
            <a:r>
              <a:rPr lang="en-US" sz="1500">
                <a:solidFill>
                  <a:srgbClr val="334155"/>
                </a:solidFill>
                <a:latin typeface="Inter"/>
                <a:ea typeface="Inter"/>
                <a:cs typeface="Inter"/>
                <a:sym typeface="Inter"/>
              </a:rPr>
              <a:t>To mitigate the weaknesses of any single architecture, the final system employs an ensemble majority voting strategy. Assuming independent model errors, the ensemble only fails if a majority of the models are simultaneously incorrect on the same image. Formally, where Xi is a Bernoulli random variable indicating a correct classification by model i, the ensemble's success probability is defined as:</a:t>
            </a:r>
            <a:endParaRPr sz="1500">
              <a:solidFill>
                <a:srgbClr val="334155"/>
              </a:solidFill>
              <a:latin typeface="Inter"/>
              <a:ea typeface="Inter"/>
              <a:cs typeface="Inter"/>
              <a:sym typeface="Inter"/>
            </a:endParaRPr>
          </a:p>
        </p:txBody>
      </p:sp>
      <p:sp>
        <p:nvSpPr>
          <p:cNvPr id="262" name="Google Shape;262;p25"/>
          <p:cNvSpPr txBox="1"/>
          <p:nvPr/>
        </p:nvSpPr>
        <p:spPr>
          <a:xfrm>
            <a:off x="6572250" y="4312162"/>
            <a:ext cx="50484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63" name="Google Shape;263;p25"/>
          <p:cNvSpPr txBox="1"/>
          <p:nvPr/>
        </p:nvSpPr>
        <p:spPr>
          <a:xfrm>
            <a:off x="543638" y="1203549"/>
            <a:ext cx="762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sp>
        <p:nvSpPr>
          <p:cNvPr id="264" name="Google Shape;264;p25"/>
          <p:cNvSpPr txBox="1"/>
          <p:nvPr/>
        </p:nvSpPr>
        <p:spPr>
          <a:xfrm>
            <a:off x="543638" y="2794662"/>
            <a:ext cx="762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sp>
        <p:nvSpPr>
          <p:cNvPr id="265" name="Google Shape;265;p25"/>
          <p:cNvSpPr txBox="1"/>
          <p:nvPr/>
        </p:nvSpPr>
        <p:spPr>
          <a:xfrm rot="10800000">
            <a:off x="455594" y="4627068"/>
            <a:ext cx="252300" cy="1617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59E0B"/>
                </a:solidFill>
                <a:latin typeface="Inter"/>
                <a:ea typeface="Inter"/>
                <a:cs typeface="Inter"/>
                <a:sym typeface="Inter"/>
              </a:rPr>
              <a:t>■</a:t>
            </a:r>
            <a:endParaRPr/>
          </a:p>
        </p:txBody>
      </p:sp>
      <p:pic>
        <p:nvPicPr>
          <p:cNvPr id="266" name="Google Shape;266;p25"/>
          <p:cNvPicPr preferRelativeResize="0"/>
          <p:nvPr/>
        </p:nvPicPr>
        <p:blipFill>
          <a:blip r:embed="rId3">
            <a:alphaModFix/>
          </a:blip>
          <a:stretch>
            <a:fillRect/>
          </a:stretch>
        </p:blipFill>
        <p:spPr>
          <a:xfrm>
            <a:off x="3363975" y="6296925"/>
            <a:ext cx="4114800" cy="371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26"/>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26"/>
          <p:cNvSpPr txBox="1"/>
          <p:nvPr/>
        </p:nvSpPr>
        <p:spPr>
          <a:xfrm>
            <a:off x="374925" y="463325"/>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F59E0B"/>
                </a:solidFill>
                <a:latin typeface="Poppins SemiBold"/>
                <a:ea typeface="Poppins SemiBold"/>
                <a:cs typeface="Poppins SemiBold"/>
                <a:sym typeface="Poppins SemiBold"/>
              </a:rPr>
              <a:t>Project Limitations</a:t>
            </a:r>
            <a:endParaRPr>
              <a:solidFill>
                <a:srgbClr val="F59E0B"/>
              </a:solidFill>
            </a:endParaRPr>
          </a:p>
        </p:txBody>
      </p:sp>
      <p:sp>
        <p:nvSpPr>
          <p:cNvPr id="273" name="Google Shape;273;p26"/>
          <p:cNvSpPr txBox="1"/>
          <p:nvPr/>
        </p:nvSpPr>
        <p:spPr>
          <a:xfrm>
            <a:off x="590550" y="1017464"/>
            <a:ext cx="3964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E40AF"/>
                </a:solidFill>
                <a:latin typeface="Poppins SemiBold"/>
                <a:ea typeface="Poppins SemiBold"/>
                <a:cs typeface="Poppins SemiBold"/>
                <a:sym typeface="Poppins SemiBold"/>
              </a:rPr>
              <a:t>Dataset &amp; Compute Constraints</a:t>
            </a:r>
            <a:endParaRPr sz="1800"/>
          </a:p>
        </p:txBody>
      </p:sp>
      <p:sp>
        <p:nvSpPr>
          <p:cNvPr id="274" name="Google Shape;274;p26"/>
          <p:cNvSpPr txBox="1"/>
          <p:nvPr/>
        </p:nvSpPr>
        <p:spPr>
          <a:xfrm>
            <a:off x="590550" y="1409019"/>
            <a:ext cx="3775500" cy="2628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u="none" cap="none" strike="noStrike">
                <a:solidFill>
                  <a:srgbClr val="334155"/>
                </a:solidFill>
                <a:latin typeface="Inter"/>
                <a:ea typeface="Inter"/>
                <a:cs typeface="Inter"/>
                <a:sym typeface="Inter"/>
              </a:rPr>
              <a:t>Trained on only 200 videos. This limits the model's ability to learn universally robust patterns.</a:t>
            </a:r>
            <a:r>
              <a:rPr lang="en-US">
                <a:solidFill>
                  <a:srgbClr val="334155"/>
                </a:solidFill>
                <a:latin typeface="Inter"/>
                <a:ea typeface="Inter"/>
                <a:cs typeface="Inter"/>
                <a:sym typeface="Inter"/>
              </a:rPr>
              <a:t> </a:t>
            </a:r>
            <a:r>
              <a:rPr lang="en-US">
                <a:solidFill>
                  <a:srgbClr val="334155"/>
                </a:solidFill>
                <a:latin typeface="Inter"/>
                <a:ea typeface="Inter"/>
                <a:cs typeface="Inter"/>
                <a:sym typeface="Inter"/>
              </a:rPr>
              <a:t>Google Colab constraints severely restricted batch sizes, parallel model training, and epoch counts, preventing the network from achieving full convergence.</a:t>
            </a:r>
            <a:endParaRPr>
              <a:solidFill>
                <a:schemeClr val="dk1"/>
              </a:solidFill>
            </a:endParaRPr>
          </a:p>
          <a:p>
            <a:pPr indent="0" lvl="0" marL="0" marR="0" rtl="0" algn="l">
              <a:lnSpc>
                <a:spcPct val="160000"/>
              </a:lnSpc>
              <a:spcBef>
                <a:spcPts val="0"/>
              </a:spcBef>
              <a:spcAft>
                <a:spcPts val="0"/>
              </a:spcAft>
              <a:buNone/>
            </a:pPr>
            <a:r>
              <a:t/>
            </a:r>
            <a:endParaRPr>
              <a:solidFill>
                <a:srgbClr val="334155"/>
              </a:solidFill>
              <a:latin typeface="Inter"/>
              <a:ea typeface="Inter"/>
              <a:cs typeface="Inter"/>
              <a:sym typeface="Inter"/>
            </a:endParaRPr>
          </a:p>
          <a:p>
            <a:pPr indent="0" lvl="0" marL="0" marR="0" rtl="0" algn="l">
              <a:lnSpc>
                <a:spcPct val="160000"/>
              </a:lnSpc>
              <a:spcBef>
                <a:spcPts val="0"/>
              </a:spcBef>
              <a:spcAft>
                <a:spcPts val="0"/>
              </a:spcAft>
              <a:buNone/>
            </a:pPr>
            <a:r>
              <a:t/>
            </a:r>
            <a:endParaRPr>
              <a:solidFill>
                <a:srgbClr val="334155"/>
              </a:solidFill>
              <a:latin typeface="Inter"/>
              <a:ea typeface="Inter"/>
              <a:cs typeface="Inter"/>
              <a:sym typeface="Inter"/>
            </a:endParaRPr>
          </a:p>
        </p:txBody>
      </p:sp>
      <p:sp>
        <p:nvSpPr>
          <p:cNvPr id="275" name="Google Shape;275;p26"/>
          <p:cNvSpPr txBox="1"/>
          <p:nvPr/>
        </p:nvSpPr>
        <p:spPr>
          <a:xfrm>
            <a:off x="6013675" y="1817475"/>
            <a:ext cx="35799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p>
        </p:txBody>
      </p:sp>
      <p:sp>
        <p:nvSpPr>
          <p:cNvPr id="276" name="Google Shape;276;p26"/>
          <p:cNvSpPr txBox="1"/>
          <p:nvPr/>
        </p:nvSpPr>
        <p:spPr>
          <a:xfrm>
            <a:off x="6913648" y="991950"/>
            <a:ext cx="44280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E40AF"/>
                </a:solidFill>
                <a:latin typeface="Poppins SemiBold"/>
                <a:ea typeface="Poppins SemiBold"/>
                <a:cs typeface="Poppins SemiBold"/>
                <a:sym typeface="Poppins SemiBold"/>
              </a:rPr>
              <a:t>Evolving GAN Technology</a:t>
            </a:r>
            <a:endParaRPr sz="1800"/>
          </a:p>
        </p:txBody>
      </p:sp>
      <p:sp>
        <p:nvSpPr>
          <p:cNvPr id="277" name="Google Shape;277;p26"/>
          <p:cNvSpPr txBox="1"/>
          <p:nvPr/>
        </p:nvSpPr>
        <p:spPr>
          <a:xfrm>
            <a:off x="6913660" y="1413936"/>
            <a:ext cx="4217100" cy="2636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404" u="none" cap="none" strike="noStrike">
                <a:solidFill>
                  <a:srgbClr val="334155"/>
                </a:solidFill>
                <a:latin typeface="Inter"/>
                <a:ea typeface="Inter"/>
                <a:cs typeface="Inter"/>
                <a:sym typeface="Inter"/>
              </a:rPr>
              <a:t>Generative Al evolves at a breakneck pace. Modern, high-end generators leave virtually no visible or spectral artifacts. </a:t>
            </a:r>
            <a:r>
              <a:rPr lang="en-US" sz="1404">
                <a:solidFill>
                  <a:srgbClr val="334155"/>
                </a:solidFill>
                <a:latin typeface="Inter"/>
                <a:ea typeface="Inter"/>
                <a:cs typeface="Inter"/>
                <a:sym typeface="Inter"/>
              </a:rPr>
              <a:t>Despite heavy augmentation, slight overfitting was still observed due to the small dataset and the challenge of keeping up with state-of-the-art synthetic engines.</a:t>
            </a:r>
            <a:endParaRPr sz="1310">
              <a:solidFill>
                <a:schemeClr val="dk1"/>
              </a:solidFill>
            </a:endParaRPr>
          </a:p>
          <a:p>
            <a:pPr indent="0" lvl="0" marL="0" marR="0" rtl="0" algn="l">
              <a:lnSpc>
                <a:spcPct val="160000"/>
              </a:lnSpc>
              <a:spcBef>
                <a:spcPts val="0"/>
              </a:spcBef>
              <a:spcAft>
                <a:spcPts val="0"/>
              </a:spcAft>
              <a:buNone/>
            </a:pPr>
            <a:r>
              <a:t/>
            </a:r>
            <a:endParaRPr sz="1404">
              <a:solidFill>
                <a:srgbClr val="334155"/>
              </a:solidFill>
              <a:latin typeface="Inter"/>
              <a:ea typeface="Inter"/>
              <a:cs typeface="Inter"/>
              <a:sym typeface="Inter"/>
            </a:endParaRPr>
          </a:p>
        </p:txBody>
      </p:sp>
      <p:sp>
        <p:nvSpPr>
          <p:cNvPr id="278" name="Google Shape;278;p26"/>
          <p:cNvSpPr txBox="1"/>
          <p:nvPr/>
        </p:nvSpPr>
        <p:spPr>
          <a:xfrm>
            <a:off x="6913660" y="2329063"/>
            <a:ext cx="4217100" cy="201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310"/>
          </a:p>
        </p:txBody>
      </p:sp>
      <p:pic>
        <p:nvPicPr>
          <p:cNvPr descr="image.png" id="279" name="Google Shape;279;p26"/>
          <p:cNvPicPr preferRelativeResize="0"/>
          <p:nvPr/>
        </p:nvPicPr>
        <p:blipFill rotWithShape="1">
          <a:blip r:embed="rId3">
            <a:alphaModFix/>
          </a:blip>
          <a:srcRect b="0" l="0" r="0" t="0"/>
          <a:stretch/>
        </p:blipFill>
        <p:spPr>
          <a:xfrm>
            <a:off x="669163" y="4675287"/>
            <a:ext cx="3108475" cy="2016925"/>
          </a:xfrm>
          <a:prstGeom prst="rect">
            <a:avLst/>
          </a:prstGeom>
          <a:noFill/>
          <a:ln>
            <a:noFill/>
          </a:ln>
        </p:spPr>
      </p:pic>
      <p:pic>
        <p:nvPicPr>
          <p:cNvPr descr="image.png" id="280" name="Google Shape;280;p26"/>
          <p:cNvPicPr preferRelativeResize="0"/>
          <p:nvPr/>
        </p:nvPicPr>
        <p:blipFill rotWithShape="1">
          <a:blip r:embed="rId4">
            <a:alphaModFix/>
          </a:blip>
          <a:srcRect b="0" l="0" r="0" t="0"/>
          <a:stretch/>
        </p:blipFill>
        <p:spPr>
          <a:xfrm>
            <a:off x="4708650" y="4708250"/>
            <a:ext cx="2908775" cy="1939500"/>
          </a:xfrm>
          <a:prstGeom prst="rect">
            <a:avLst/>
          </a:prstGeom>
          <a:noFill/>
          <a:ln>
            <a:noFill/>
          </a:ln>
        </p:spPr>
      </p:pic>
      <p:pic>
        <p:nvPicPr>
          <p:cNvPr descr="image.png" id="281" name="Google Shape;281;p26"/>
          <p:cNvPicPr preferRelativeResize="0"/>
          <p:nvPr/>
        </p:nvPicPr>
        <p:blipFill rotWithShape="1">
          <a:blip r:embed="rId5">
            <a:alphaModFix/>
          </a:blip>
          <a:srcRect b="11878" l="12090" r="-12090" t="-5188"/>
          <a:stretch/>
        </p:blipFill>
        <p:spPr>
          <a:xfrm>
            <a:off x="8282938" y="4537050"/>
            <a:ext cx="3239975" cy="2293400"/>
          </a:xfrm>
          <a:prstGeom prst="rect">
            <a:avLst/>
          </a:prstGeom>
          <a:noFill/>
          <a:ln>
            <a:noFill/>
          </a:ln>
        </p:spPr>
      </p:pic>
      <p:sp>
        <p:nvSpPr>
          <p:cNvPr id="282" name="Google Shape;282;p26"/>
          <p:cNvSpPr/>
          <p:nvPr/>
        </p:nvSpPr>
        <p:spPr>
          <a:xfrm>
            <a:off x="159373" y="76200"/>
            <a:ext cx="12032700" cy="75300"/>
          </a:xfrm>
          <a:prstGeom prst="rect">
            <a:avLst/>
          </a:prstGeom>
          <a:solidFill>
            <a:srgbClr val="1E3A8A"/>
          </a:solidFill>
          <a:ln>
            <a:noFill/>
          </a:ln>
        </p:spPr>
        <p:txBody>
          <a:bodyPr anchorCtr="0" anchor="ctr" bIns="45100" lIns="90225" spcFirstLastPara="1" rIns="90225" wrap="square" tIns="45100">
            <a:noAutofit/>
          </a:bodyPr>
          <a:lstStyle/>
          <a:p>
            <a:pPr indent="0" lvl="0" marL="0" marR="0" rtl="0" algn="ctr">
              <a:spcBef>
                <a:spcPts val="0"/>
              </a:spcBef>
              <a:spcAft>
                <a:spcPts val="0"/>
              </a:spcAft>
              <a:buNone/>
            </a:pPr>
            <a:r>
              <a:t/>
            </a:r>
            <a:endParaRPr b="0" i="0" sz="1776" u="none" cap="none" strike="noStrike">
              <a:solidFill>
                <a:schemeClr val="dk1"/>
              </a:solidFill>
              <a:latin typeface="Calibri"/>
              <a:ea typeface="Calibri"/>
              <a:cs typeface="Calibri"/>
              <a:sym typeface="Calibri"/>
            </a:endParaRPr>
          </a:p>
        </p:txBody>
      </p:sp>
      <p:sp>
        <p:nvSpPr>
          <p:cNvPr id="283" name="Google Shape;283;p26"/>
          <p:cNvSpPr txBox="1"/>
          <p:nvPr/>
        </p:nvSpPr>
        <p:spPr>
          <a:xfrm>
            <a:off x="669088" y="4222913"/>
            <a:ext cx="31086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E40AF"/>
                </a:solidFill>
                <a:latin typeface="Poppins SemiBold"/>
                <a:ea typeface="Poppins SemiBold"/>
                <a:cs typeface="Poppins SemiBold"/>
                <a:sym typeface="Poppins SemiBold"/>
              </a:rPr>
              <a:t>Temporal Modeling</a:t>
            </a:r>
            <a:endParaRPr sz="1800"/>
          </a:p>
        </p:txBody>
      </p:sp>
      <p:sp>
        <p:nvSpPr>
          <p:cNvPr id="284" name="Google Shape;284;p26"/>
          <p:cNvSpPr txBox="1"/>
          <p:nvPr/>
        </p:nvSpPr>
        <p:spPr>
          <a:xfrm>
            <a:off x="823607" y="4774233"/>
            <a:ext cx="2770200" cy="159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u="none" cap="none" strike="noStrike">
                <a:solidFill>
                  <a:srgbClr val="334155"/>
                </a:solidFill>
                <a:latin typeface="Inter"/>
                <a:ea typeface="Inter"/>
                <a:cs typeface="Inter"/>
                <a:sym typeface="Inter"/>
              </a:rPr>
              <a:t>Incorporating LSTM or RNN networks to track frame-to-frame motion inconsistencies and blinking irregularities over time.</a:t>
            </a:r>
            <a:endParaRPr/>
          </a:p>
        </p:txBody>
      </p:sp>
      <p:sp>
        <p:nvSpPr>
          <p:cNvPr id="285" name="Google Shape;285;p26"/>
          <p:cNvSpPr txBox="1"/>
          <p:nvPr/>
        </p:nvSpPr>
        <p:spPr>
          <a:xfrm flipH="1">
            <a:off x="4641600" y="4169932"/>
            <a:ext cx="29088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E40AF"/>
                </a:solidFill>
                <a:latin typeface="Poppins SemiBold"/>
                <a:ea typeface="Poppins SemiBold"/>
                <a:cs typeface="Poppins SemiBold"/>
                <a:sym typeface="Poppins SemiBold"/>
              </a:rPr>
              <a:t>3D CNN Architectures</a:t>
            </a:r>
            <a:endParaRPr sz="1800"/>
          </a:p>
        </p:txBody>
      </p:sp>
      <p:sp>
        <p:nvSpPr>
          <p:cNvPr id="286" name="Google Shape;286;p26"/>
          <p:cNvSpPr txBox="1"/>
          <p:nvPr/>
        </p:nvSpPr>
        <p:spPr>
          <a:xfrm>
            <a:off x="4876225" y="4822125"/>
            <a:ext cx="2471400" cy="159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u="none" cap="none" strike="noStrike">
                <a:solidFill>
                  <a:srgbClr val="334155"/>
                </a:solidFill>
                <a:latin typeface="Inter"/>
                <a:ea typeface="Inter"/>
                <a:cs typeface="Inter"/>
                <a:sym typeface="Inter"/>
              </a:rPr>
              <a:t>Transitioning from 2D frame analysis to 3D CNNs to learn spatial and temporal features jointly, providing richer context.</a:t>
            </a:r>
            <a:endParaRPr/>
          </a:p>
        </p:txBody>
      </p:sp>
      <p:sp>
        <p:nvSpPr>
          <p:cNvPr id="287" name="Google Shape;287;p26"/>
          <p:cNvSpPr txBox="1"/>
          <p:nvPr/>
        </p:nvSpPr>
        <p:spPr>
          <a:xfrm>
            <a:off x="8104075" y="4218150"/>
            <a:ext cx="32400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1E40AF"/>
                </a:solidFill>
                <a:latin typeface="Poppins SemiBold"/>
                <a:ea typeface="Poppins SemiBold"/>
                <a:cs typeface="Poppins SemiBold"/>
                <a:sym typeface="Poppins SemiBold"/>
              </a:rPr>
              <a:t>Real-World Deployment</a:t>
            </a:r>
            <a:endParaRPr sz="1800"/>
          </a:p>
        </p:txBody>
      </p:sp>
      <p:sp>
        <p:nvSpPr>
          <p:cNvPr id="288" name="Google Shape;288;p26"/>
          <p:cNvSpPr txBox="1"/>
          <p:nvPr/>
        </p:nvSpPr>
        <p:spPr>
          <a:xfrm>
            <a:off x="8548413" y="4756913"/>
            <a:ext cx="2471400" cy="1939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u="none" cap="none" strike="noStrike">
                <a:solidFill>
                  <a:srgbClr val="334155"/>
                </a:solidFill>
                <a:latin typeface="Inter"/>
                <a:ea typeface="Inter"/>
                <a:cs typeface="Inter"/>
                <a:sym typeface="Inter"/>
              </a:rPr>
              <a:t>Scaling up the dataset diversity and optimizing the models for real-time</a:t>
            </a:r>
            <a:endParaRPr>
              <a:solidFill>
                <a:srgbClr val="334155"/>
              </a:solidFill>
              <a:latin typeface="Inter"/>
              <a:ea typeface="Inter"/>
              <a:cs typeface="Inter"/>
              <a:sym typeface="Inter"/>
            </a:endParaRPr>
          </a:p>
          <a:p>
            <a:pPr indent="0" lvl="0" marL="0" marR="0" rtl="0" algn="ctr">
              <a:lnSpc>
                <a:spcPct val="160000"/>
              </a:lnSpc>
              <a:spcBef>
                <a:spcPts val="0"/>
              </a:spcBef>
              <a:spcAft>
                <a:spcPts val="0"/>
              </a:spcAft>
              <a:buNone/>
            </a:pPr>
            <a:r>
              <a:rPr b="0" i="0" lang="en-US" u="none" cap="none" strike="noStrike">
                <a:solidFill>
                  <a:srgbClr val="334155"/>
                </a:solidFill>
                <a:latin typeface="Inter"/>
                <a:ea typeface="Inter"/>
                <a:cs typeface="Inter"/>
                <a:sym typeface="Inter"/>
              </a:rPr>
              <a:t>deployment in digital</a:t>
            </a:r>
            <a:endParaRPr>
              <a:solidFill>
                <a:srgbClr val="334155"/>
              </a:solidFill>
              <a:latin typeface="Inter"/>
              <a:ea typeface="Inter"/>
              <a:cs typeface="Inter"/>
              <a:sym typeface="Inter"/>
            </a:endParaRPr>
          </a:p>
          <a:p>
            <a:pPr indent="0" lvl="0" marL="0" marR="0" rtl="0" algn="ctr">
              <a:lnSpc>
                <a:spcPct val="160000"/>
              </a:lnSpc>
              <a:spcBef>
                <a:spcPts val="0"/>
              </a:spcBef>
              <a:spcAft>
                <a:spcPts val="0"/>
              </a:spcAft>
              <a:buNone/>
            </a:pPr>
            <a:r>
              <a:rPr b="0" i="0" lang="en-US" u="none" cap="none" strike="noStrike">
                <a:solidFill>
                  <a:srgbClr val="334155"/>
                </a:solidFill>
                <a:latin typeface="Inter"/>
                <a:ea typeface="Inter"/>
                <a:cs typeface="Inter"/>
                <a:sym typeface="Inter"/>
              </a:rPr>
              <a:t>forensics and moderation environments.</a:t>
            </a:r>
            <a:endParaRPr/>
          </a:p>
        </p:txBody>
      </p:sp>
      <p:sp>
        <p:nvSpPr>
          <p:cNvPr id="289" name="Google Shape;289;p26"/>
          <p:cNvSpPr txBox="1"/>
          <p:nvPr/>
        </p:nvSpPr>
        <p:spPr>
          <a:xfrm>
            <a:off x="335175" y="3571638"/>
            <a:ext cx="8738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rgbClr val="F59E0B"/>
                </a:solidFill>
                <a:latin typeface="Poppins SemiBold"/>
                <a:ea typeface="Poppins SemiBold"/>
                <a:cs typeface="Poppins SemiBold"/>
                <a:sym typeface="Poppins SemiBold"/>
              </a:rPr>
              <a:t>Future Scope &amp; Enhancements</a:t>
            </a:r>
            <a:endParaRPr>
              <a:solidFill>
                <a:srgbClr val="F59E0B"/>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27"/>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27"/>
          <p:cNvSpPr txBox="1"/>
          <p:nvPr/>
        </p:nvSpPr>
        <p:spPr>
          <a:xfrm>
            <a:off x="571500" y="55245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u="none" cap="none" strike="noStrike">
                <a:solidFill>
                  <a:srgbClr val="1E3A8A"/>
                </a:solidFill>
                <a:latin typeface="Poppins SemiBold"/>
                <a:ea typeface="Poppins SemiBold"/>
                <a:cs typeface="Poppins SemiBold"/>
                <a:sym typeface="Poppins SemiBold"/>
              </a:rPr>
              <a:t>Conclusion</a:t>
            </a:r>
            <a:endParaRPr/>
          </a:p>
        </p:txBody>
      </p:sp>
      <p:sp>
        <p:nvSpPr>
          <p:cNvPr id="296" name="Google Shape;296;p27"/>
          <p:cNvSpPr txBox="1"/>
          <p:nvPr/>
        </p:nvSpPr>
        <p:spPr>
          <a:xfrm>
            <a:off x="2190750" y="2417415"/>
            <a:ext cx="7810500" cy="2400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3150" u="none" cap="none" strike="noStrike">
                <a:solidFill>
                  <a:srgbClr val="1E3A8A"/>
                </a:solidFill>
                <a:latin typeface="Poppins"/>
                <a:ea typeface="Poppins"/>
                <a:cs typeface="Poppins"/>
                <a:sym typeface="Poppins"/>
              </a:rPr>
              <a:t> Combining frequency domain analysis with deep learning definitively improves AI-generated video detection over purely spatial methods. </a:t>
            </a:r>
            <a:endParaRPr/>
          </a:p>
        </p:txBody>
      </p:sp>
      <p:sp>
        <p:nvSpPr>
          <p:cNvPr id="297" name="Google Shape;297;p27"/>
          <p:cNvSpPr txBox="1"/>
          <p:nvPr/>
        </p:nvSpPr>
        <p:spPr>
          <a:xfrm>
            <a:off x="5081587" y="5046315"/>
            <a:ext cx="2028825" cy="276225"/>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1" lang="en-US" sz="1800" u="none" cap="none" strike="noStrike">
                <a:solidFill>
                  <a:srgbClr val="64748B"/>
                </a:solidFill>
                <a:latin typeface="Inter Medium"/>
                <a:ea typeface="Inter Medium"/>
                <a:cs typeface="Inter Medium"/>
                <a:sym typeface="Inter Medium"/>
              </a:rPr>
              <a:t>— Project Findings</a:t>
            </a:r>
            <a:endParaRPr/>
          </a:p>
        </p:txBody>
      </p:sp>
      <p:sp>
        <p:nvSpPr>
          <p:cNvPr id="298" name="Google Shape;298;p27"/>
          <p:cNvSpPr txBox="1"/>
          <p:nvPr/>
        </p:nvSpPr>
        <p:spPr>
          <a:xfrm>
            <a:off x="1714500" y="2703165"/>
            <a:ext cx="219075" cy="11430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1" lang="en-US" sz="6000" u="none" cap="none" strike="noStrike">
                <a:solidFill>
                  <a:srgbClr val="F59E0B"/>
                </a:solidFill>
                <a:latin typeface="Poppins"/>
                <a:ea typeface="Poppins"/>
                <a:cs typeface="Poppins"/>
                <a:sym typeface="Poppins"/>
              </a:rPr>
              <a:t>"</a:t>
            </a:r>
            <a:endParaRPr/>
          </a:p>
        </p:txBody>
      </p:sp>
      <p:sp>
        <p:nvSpPr>
          <p:cNvPr id="299" name="Google Shape;299;p27"/>
          <p:cNvSpPr txBox="1"/>
          <p:nvPr/>
        </p:nvSpPr>
        <p:spPr>
          <a:xfrm>
            <a:off x="10258425" y="5008215"/>
            <a:ext cx="219075" cy="11430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1" lang="en-US" sz="6000" u="none" cap="none" strike="noStrike">
                <a:solidFill>
                  <a:srgbClr val="F59E0B"/>
                </a:solidFill>
                <a:latin typeface="Poppins"/>
                <a:ea typeface="Poppins"/>
                <a:cs typeface="Poppins"/>
                <a:sym typeface="Poppins"/>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pic>
        <p:nvPicPr>
          <p:cNvPr descr="image.png" id="304" name="Google Shape;304;p28"/>
          <p:cNvPicPr preferRelativeResize="0"/>
          <p:nvPr/>
        </p:nvPicPr>
        <p:blipFill rotWithShape="1">
          <a:blip r:embed="rId3">
            <a:alphaModFix/>
          </a:blip>
          <a:srcRect b="0" l="0" r="0" t="0"/>
          <a:stretch/>
        </p:blipFill>
        <p:spPr>
          <a:xfrm>
            <a:off x="2657475" y="4095750"/>
            <a:ext cx="6877050" cy="628650"/>
          </a:xfrm>
          <a:prstGeom prst="rect">
            <a:avLst/>
          </a:prstGeom>
          <a:noFill/>
          <a:ln>
            <a:noFill/>
          </a:ln>
        </p:spPr>
      </p:pic>
      <p:sp>
        <p:nvSpPr>
          <p:cNvPr id="305" name="Google Shape;305;p28"/>
          <p:cNvSpPr/>
          <p:nvPr/>
        </p:nvSpPr>
        <p:spPr>
          <a:xfrm>
            <a:off x="0" y="0"/>
            <a:ext cx="12192000" cy="76200"/>
          </a:xfrm>
          <a:prstGeom prst="rect">
            <a:avLst/>
          </a:prstGeom>
          <a:solidFill>
            <a:srgbClr val="1E3A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8"/>
          <p:cNvSpPr txBox="1"/>
          <p:nvPr/>
        </p:nvSpPr>
        <p:spPr>
          <a:xfrm>
            <a:off x="295275" y="2209800"/>
            <a:ext cx="11601450" cy="1009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5250" u="none" cap="none" strike="noStrike">
                <a:solidFill>
                  <a:srgbClr val="1E3A8A"/>
                </a:solidFill>
                <a:latin typeface="Poppins SemiBold"/>
                <a:ea typeface="Poppins SemiBold"/>
                <a:cs typeface="Poppins SemiBold"/>
                <a:sym typeface="Poppins SemiBold"/>
              </a:rPr>
              <a:t>Thank You!</a:t>
            </a:r>
            <a:endParaRPr/>
          </a:p>
        </p:txBody>
      </p:sp>
      <p:sp>
        <p:nvSpPr>
          <p:cNvPr id="307" name="Google Shape;307;p28"/>
          <p:cNvSpPr txBox="1"/>
          <p:nvPr/>
        </p:nvSpPr>
        <p:spPr>
          <a:xfrm>
            <a:off x="571500" y="3409950"/>
            <a:ext cx="11049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Are there 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